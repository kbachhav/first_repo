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8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Hexagon 1"/>
          <p:cNvSpPr/>
          <p:nvPr/>
        </p:nvSpPr>
        <p:spPr>
          <a:xfrm>
            <a:off x="502920" y="347472"/>
            <a:ext cx="530352" cy="384048"/>
          </a:xfrm>
          <a:prstGeom prst="hexagon">
            <a:avLst/>
          </a:prstGeom>
          <a:solidFill>
            <a:srgbClr val="DB0011"/>
          </a:solidFill>
          <a:ln>
            <a:solidFill>
              <a:srgbClr val="DB00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24712" y="320040"/>
            <a:ext cx="960120" cy="4389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Aptos"/>
              </a:rPr>
              <a:t>HSBC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46920" y="365760"/>
            <a:ext cx="1828800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sz="1200" b="1">
                <a:solidFill>
                  <a:srgbClr val="FFFFFF"/>
                </a:solidFill>
                <a:latin typeface="Aptos"/>
              </a:rPr>
              <a:t>COMING SOON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207008"/>
            <a:ext cx="182880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800" b="1">
                <a:solidFill>
                  <a:srgbClr val="DB0011"/>
                </a:solidFill>
                <a:latin typeface="Aptos"/>
              </a:rPr>
              <a:t>WHAT IF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600200"/>
            <a:ext cx="6583680" cy="1325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  <a:latin typeface="Aptos"/>
              </a:rPr>
              <a:t>the answer you need
was already waiting for you?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3063240"/>
            <a:ext cx="621792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700" b="0">
                <a:solidFill>
                  <a:srgbClr val="AFAFB4"/>
                </a:solidFill>
                <a:latin typeface="Aptos"/>
              </a:rPr>
              <a:t>Less searching. Less escalation. More time to focus on what matters.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635240" y="1234440"/>
            <a:ext cx="3520440" cy="3520440"/>
          </a:xfrm>
          <a:prstGeom prst="roundRect">
            <a:avLst/>
          </a:prstGeom>
          <a:solidFill>
            <a:srgbClr val="141418"/>
          </a:solidFill>
          <a:ln>
            <a:solidFill>
              <a:srgbClr val="4B4B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321040" y="1828800"/>
            <a:ext cx="2148840" cy="6400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4200" b="1">
                <a:solidFill>
                  <a:srgbClr val="FFFFFF"/>
                </a:solidFill>
                <a:latin typeface="Aptos"/>
              </a:rPr>
              <a:t>GOP</a:t>
            </a:r>
          </a:p>
        </p:txBody>
      </p:sp>
      <p:sp>
        <p:nvSpPr>
          <p:cNvPr id="10" name="Rectangle 9"/>
          <p:cNvSpPr/>
          <p:nvPr/>
        </p:nvSpPr>
        <p:spPr>
          <a:xfrm>
            <a:off x="8275320" y="2651760"/>
            <a:ext cx="2240280" cy="27432"/>
          </a:xfrm>
          <a:prstGeom prst="rect">
            <a:avLst/>
          </a:prstGeom>
          <a:solidFill>
            <a:srgbClr val="DB0011"/>
          </a:solidFill>
          <a:ln>
            <a:solidFill>
              <a:srgbClr val="DB00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973568" y="2880360"/>
            <a:ext cx="2834640" cy="8229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ptos"/>
              </a:rPr>
              <a:t>KNOWLEDGE
AT YOUR FINGERTIPS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635240" y="4315968"/>
            <a:ext cx="3520440" cy="347472"/>
          </a:xfrm>
          <a:prstGeom prst="roundRect">
            <a:avLst/>
          </a:prstGeom>
          <a:solidFill>
            <a:srgbClr val="DB0011"/>
          </a:solidFill>
          <a:ln>
            <a:solidFill>
              <a:srgbClr val="DB00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40080" y="4736592"/>
            <a:ext cx="1965960" cy="804672"/>
          </a:xfrm>
          <a:prstGeom prst="roundRect">
            <a:avLst/>
          </a:prstGeom>
          <a:solidFill>
            <a:srgbClr val="141418"/>
          </a:solidFill>
          <a:ln>
            <a:solidFill>
              <a:srgbClr val="4B4B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1519" y="4828032"/>
            <a:ext cx="1783080" cy="228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100" b="1">
                <a:solidFill>
                  <a:srgbClr val="DB0011"/>
                </a:solidFill>
                <a:latin typeface="Aptos"/>
              </a:rPr>
              <a:t>INSTANT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19" y="5074920"/>
            <a:ext cx="1783080" cy="25603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ptos"/>
              </a:rPr>
              <a:t>Answers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2880360" y="4736592"/>
            <a:ext cx="1965960" cy="804672"/>
          </a:xfrm>
          <a:prstGeom prst="roundRect">
            <a:avLst/>
          </a:prstGeom>
          <a:solidFill>
            <a:srgbClr val="141418"/>
          </a:solidFill>
          <a:ln>
            <a:solidFill>
              <a:srgbClr val="4B4B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971800" y="4828032"/>
            <a:ext cx="1783080" cy="228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100" b="1">
                <a:solidFill>
                  <a:srgbClr val="DB0011"/>
                </a:solidFill>
                <a:latin typeface="Aptos"/>
              </a:rPr>
              <a:t>SMARTER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971800" y="5074920"/>
            <a:ext cx="1783080" cy="25603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ptos"/>
              </a:rPr>
              <a:t>Guidance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120640" y="4736592"/>
            <a:ext cx="1965960" cy="804672"/>
          </a:xfrm>
          <a:prstGeom prst="roundRect">
            <a:avLst/>
          </a:prstGeom>
          <a:solidFill>
            <a:srgbClr val="141418"/>
          </a:solidFill>
          <a:ln>
            <a:solidFill>
              <a:srgbClr val="4B4B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212080" y="4828032"/>
            <a:ext cx="1783080" cy="228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100" b="1">
                <a:solidFill>
                  <a:srgbClr val="DB0011"/>
                </a:solidFill>
                <a:latin typeface="Aptos"/>
              </a:rPr>
              <a:t>FASTER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212080" y="5074920"/>
            <a:ext cx="1783080" cy="25603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ptos"/>
              </a:rPr>
              <a:t>Resolution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635240" y="4892040"/>
            <a:ext cx="3520440" cy="34747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900" b="1">
                <a:solidFill>
                  <a:srgbClr val="FFFFFF"/>
                </a:solidFill>
                <a:latin typeface="Aptos"/>
              </a:rPr>
              <a:t>GTS GOP AGENT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635240" y="5285232"/>
            <a:ext cx="3520440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100" b="0">
                <a:solidFill>
                  <a:srgbClr val="AFAFB4"/>
                </a:solidFill>
                <a:latin typeface="Aptos"/>
              </a:rPr>
              <a:t>Your intelligent partner for Trade Operations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635240" y="5833872"/>
            <a:ext cx="3520440" cy="29260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300" b="1">
                <a:solidFill>
                  <a:srgbClr val="DB0011"/>
                </a:solidFill>
                <a:latin typeface="Aptos"/>
              </a:rPr>
              <a:t>THE COUNTDOWN HAS BEGUN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486400" y="6510528"/>
            <a:ext cx="1188720" cy="182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800" b="0">
                <a:solidFill>
                  <a:srgbClr val="AFAFB4"/>
                </a:solidFill>
                <a:latin typeface="Aptos"/>
              </a:rPr>
              <a:t>INTERNAL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11480" y="6437376"/>
            <a:ext cx="2286000" cy="228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800" b="0">
                <a:solidFill>
                  <a:srgbClr val="AFAFB4"/>
                </a:solidFill>
                <a:latin typeface="Aptos"/>
              </a:rPr>
              <a:t>GTS • Trade Operations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646920" y="6428232"/>
            <a:ext cx="2103120" cy="228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sz="900" b="1">
                <a:solidFill>
                  <a:srgbClr val="FFFFFF"/>
                </a:solidFill>
                <a:latin typeface="Aptos"/>
              </a:rPr>
              <a:t>#SmarterTogether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4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Hexagon 1"/>
          <p:cNvSpPr/>
          <p:nvPr/>
        </p:nvSpPr>
        <p:spPr>
          <a:xfrm>
            <a:off x="502920" y="347472"/>
            <a:ext cx="530352" cy="384048"/>
          </a:xfrm>
          <a:prstGeom prst="hexagon">
            <a:avLst/>
          </a:prstGeom>
          <a:solidFill>
            <a:srgbClr val="DB0011"/>
          </a:solidFill>
          <a:ln>
            <a:solidFill>
              <a:srgbClr val="DB00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24712" y="320040"/>
            <a:ext cx="960120" cy="4389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2000" b="1">
                <a:solidFill>
                  <a:srgbClr val="141418"/>
                </a:solidFill>
                <a:latin typeface="Aptos"/>
              </a:rPr>
              <a:t>HSBC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DB0011"/>
          </a:solidFill>
          <a:ln>
            <a:solidFill>
              <a:srgbClr val="DB00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46920" y="365760"/>
            <a:ext cx="1828800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sz="1200" b="1">
                <a:solidFill>
                  <a:srgbClr val="DB0011"/>
                </a:solidFill>
                <a:latin typeface="Aptos"/>
              </a:rPr>
              <a:t>COMING SOON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024128"/>
            <a:ext cx="548640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400" b="1">
                <a:solidFill>
                  <a:srgbClr val="DB0011"/>
                </a:solidFill>
                <a:latin typeface="Aptos"/>
              </a:rPr>
              <a:t>FROM FINDING INFORMATION…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71600"/>
            <a:ext cx="7315200" cy="5943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3100" b="1">
                <a:solidFill>
                  <a:srgbClr val="141418"/>
                </a:solidFill>
                <a:latin typeface="Aptos"/>
              </a:rPr>
              <a:t>…TO FINDING THE ANSWER.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240280"/>
            <a:ext cx="5257800" cy="3246120"/>
          </a:xfrm>
          <a:prstGeom prst="roundRect">
            <a:avLst/>
          </a:prstGeom>
          <a:solidFill>
            <a:srgbClr val="FFFFFF"/>
          </a:solidFill>
          <a:ln>
            <a:solidFill>
              <a:srgbClr val="D7D7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2514600"/>
            <a:ext cx="1097280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300" b="1">
                <a:solidFill>
                  <a:srgbClr val="4B4B50"/>
                </a:solidFill>
                <a:latin typeface="Aptos"/>
              </a:rPr>
              <a:t>TODAY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2880360"/>
            <a:ext cx="4480560" cy="4572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2300" b="1">
                <a:solidFill>
                  <a:srgbClr val="141418"/>
                </a:solidFill>
                <a:latin typeface="Aptos"/>
              </a:rPr>
              <a:t>Search • Navigate • Escalate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60120" y="3547872"/>
            <a:ext cx="4434840" cy="320040"/>
          </a:xfrm>
          <a:prstGeom prst="roundRect">
            <a:avLst/>
          </a:prstGeom>
          <a:solidFill>
            <a:srgbClr val="FFEBED"/>
          </a:solidFill>
          <a:ln>
            <a:solidFill>
              <a:srgbClr val="FFEB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97280" y="3547872"/>
            <a:ext cx="411480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100" b="0">
                <a:solidFill>
                  <a:srgbClr val="141418"/>
                </a:solidFill>
                <a:latin typeface="Aptos"/>
              </a:rPr>
              <a:t>×  Multiple folders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60120" y="3977639"/>
            <a:ext cx="4434840" cy="320040"/>
          </a:xfrm>
          <a:prstGeom prst="roundRect">
            <a:avLst/>
          </a:prstGeom>
          <a:solidFill>
            <a:srgbClr val="FFEBED"/>
          </a:solidFill>
          <a:ln>
            <a:solidFill>
              <a:srgbClr val="FFEB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97280" y="3977639"/>
            <a:ext cx="411480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100" b="0">
                <a:solidFill>
                  <a:srgbClr val="141418"/>
                </a:solidFill>
                <a:latin typeface="Aptos"/>
              </a:rPr>
              <a:t>×  Manual searching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60120" y="4407408"/>
            <a:ext cx="4434840" cy="320040"/>
          </a:xfrm>
          <a:prstGeom prst="roundRect">
            <a:avLst/>
          </a:prstGeom>
          <a:solidFill>
            <a:srgbClr val="FFEBED"/>
          </a:solidFill>
          <a:ln>
            <a:solidFill>
              <a:srgbClr val="FFEB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97280" y="4407408"/>
            <a:ext cx="411480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100" b="0">
                <a:solidFill>
                  <a:srgbClr val="141418"/>
                </a:solidFill>
                <a:latin typeface="Aptos"/>
              </a:rPr>
              <a:t>×  Knowledge gaps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60120" y="4837176"/>
            <a:ext cx="4434840" cy="320040"/>
          </a:xfrm>
          <a:prstGeom prst="roundRect">
            <a:avLst/>
          </a:prstGeom>
          <a:solidFill>
            <a:srgbClr val="FFEBED"/>
          </a:solidFill>
          <a:ln>
            <a:solidFill>
              <a:srgbClr val="FFEB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97280" y="4837176"/>
            <a:ext cx="411480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100" b="0">
                <a:solidFill>
                  <a:srgbClr val="141418"/>
                </a:solidFill>
                <a:latin typeface="Aptos"/>
              </a:rPr>
              <a:t>×  Escalation loops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961888" y="3337560"/>
            <a:ext cx="548640" cy="7315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3800" b="1">
                <a:solidFill>
                  <a:srgbClr val="DB0011"/>
                </a:solidFill>
                <a:latin typeface="Aptos"/>
              </a:rPr>
              <a:t>→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446520" y="2240280"/>
            <a:ext cx="5074920" cy="3246120"/>
          </a:xfrm>
          <a:prstGeom prst="roundRect">
            <a:avLst/>
          </a:prstGeom>
          <a:solidFill>
            <a:srgbClr val="141418"/>
          </a:solidFill>
          <a:ln>
            <a:solidFill>
              <a:srgbClr val="141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766560" y="2514600"/>
            <a:ext cx="1097280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300" b="1">
                <a:solidFill>
                  <a:srgbClr val="DB0011"/>
                </a:solidFill>
                <a:latin typeface="Aptos"/>
              </a:rPr>
              <a:t>SOON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766560" y="2880360"/>
            <a:ext cx="4389120" cy="4572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2300" b="1">
                <a:solidFill>
                  <a:srgbClr val="FFFFFF"/>
                </a:solidFill>
                <a:latin typeface="Aptos"/>
              </a:rPr>
              <a:t>Ask • Understand • Resolve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766560" y="3547872"/>
            <a:ext cx="4297680" cy="320040"/>
          </a:xfrm>
          <a:prstGeom prst="roundRect">
            <a:avLst/>
          </a:prstGeom>
          <a:solidFill>
            <a:srgbClr val="27272C"/>
          </a:solidFill>
          <a:ln>
            <a:solidFill>
              <a:srgbClr val="4B4B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903720" y="3547872"/>
            <a:ext cx="22860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200" b="1">
                <a:solidFill>
                  <a:srgbClr val="DB0011"/>
                </a:solidFill>
                <a:latin typeface="Aptos"/>
              </a:rPr>
              <a:t>✓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223760" y="3547872"/>
            <a:ext cx="365760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Aptos"/>
              </a:rPr>
              <a:t>Instant answers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766560" y="3977639"/>
            <a:ext cx="4297680" cy="320040"/>
          </a:xfrm>
          <a:prstGeom prst="roundRect">
            <a:avLst/>
          </a:prstGeom>
          <a:solidFill>
            <a:srgbClr val="27272C"/>
          </a:solidFill>
          <a:ln>
            <a:solidFill>
              <a:srgbClr val="4B4B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903720" y="3977639"/>
            <a:ext cx="22860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200" b="1">
                <a:solidFill>
                  <a:srgbClr val="DB0011"/>
                </a:solidFill>
                <a:latin typeface="Aptos"/>
              </a:rPr>
              <a:t>✓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223760" y="3977639"/>
            <a:ext cx="365760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Aptos"/>
              </a:rPr>
              <a:t>Centralized GOP knowledge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766560" y="4407408"/>
            <a:ext cx="4297680" cy="320040"/>
          </a:xfrm>
          <a:prstGeom prst="roundRect">
            <a:avLst/>
          </a:prstGeom>
          <a:solidFill>
            <a:srgbClr val="27272C"/>
          </a:solidFill>
          <a:ln>
            <a:solidFill>
              <a:srgbClr val="4B4B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903720" y="4407408"/>
            <a:ext cx="22860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200" b="1">
                <a:solidFill>
                  <a:srgbClr val="DB0011"/>
                </a:solidFill>
                <a:latin typeface="Aptos"/>
              </a:rPr>
              <a:t>✓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223760" y="4407408"/>
            <a:ext cx="365760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Aptos"/>
              </a:rPr>
              <a:t>Smarter escalations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766560" y="4837176"/>
            <a:ext cx="4297680" cy="320040"/>
          </a:xfrm>
          <a:prstGeom prst="roundRect">
            <a:avLst/>
          </a:prstGeom>
          <a:solidFill>
            <a:srgbClr val="27272C"/>
          </a:solidFill>
          <a:ln>
            <a:solidFill>
              <a:srgbClr val="4B4B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903720" y="4837176"/>
            <a:ext cx="22860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200" b="1">
                <a:solidFill>
                  <a:srgbClr val="DB0011"/>
                </a:solidFill>
                <a:latin typeface="Aptos"/>
              </a:rPr>
              <a:t>✓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223760" y="4837176"/>
            <a:ext cx="365760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Aptos"/>
              </a:rPr>
              <a:t>Fewer manual steps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2880360" y="5687568"/>
            <a:ext cx="6400800" cy="457200"/>
          </a:xfrm>
          <a:prstGeom prst="roundRect">
            <a:avLst/>
          </a:prstGeom>
          <a:solidFill>
            <a:srgbClr val="DB0011"/>
          </a:solidFill>
          <a:ln>
            <a:solidFill>
              <a:srgbClr val="DB00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3063240" y="5687568"/>
            <a:ext cx="6035040" cy="4572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ptos"/>
              </a:rPr>
              <a:t>GTS GOP AGENT  •  A smarter way to work is coming.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486400" y="6510528"/>
            <a:ext cx="1188720" cy="182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800" b="0">
                <a:solidFill>
                  <a:srgbClr val="AFAFB4"/>
                </a:solidFill>
                <a:latin typeface="Aptos"/>
              </a:rPr>
              <a:t>INTERNAL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11480" y="6437376"/>
            <a:ext cx="2286000" cy="228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800" b="0">
                <a:solidFill>
                  <a:srgbClr val="AFAFB4"/>
                </a:solidFill>
                <a:latin typeface="Aptos"/>
              </a:rPr>
              <a:t>GTS • Trade Operations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646920" y="6428232"/>
            <a:ext cx="2103120" cy="228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sz="900" b="1">
                <a:solidFill>
                  <a:srgbClr val="FFFFFF"/>
                </a:solidFill>
                <a:latin typeface="Aptos"/>
              </a:rPr>
              <a:t>#SmarterTogether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8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Hexagon 1"/>
          <p:cNvSpPr/>
          <p:nvPr/>
        </p:nvSpPr>
        <p:spPr>
          <a:xfrm>
            <a:off x="502920" y="347472"/>
            <a:ext cx="530352" cy="384048"/>
          </a:xfrm>
          <a:prstGeom prst="hexagon">
            <a:avLst/>
          </a:prstGeom>
          <a:solidFill>
            <a:srgbClr val="DB0011"/>
          </a:solidFill>
          <a:ln>
            <a:solidFill>
              <a:srgbClr val="DB00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24712" y="320040"/>
            <a:ext cx="960120" cy="4389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Aptos"/>
              </a:rPr>
              <a:t>HSBC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078992"/>
            <a:ext cx="777240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300" b="1">
                <a:solidFill>
                  <a:srgbClr val="DB0011"/>
                </a:solidFill>
                <a:latin typeface="Aptos"/>
              </a:rPr>
              <a:t>A NEW CAPABILITY IS ABOUT TO UNLOCK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444752"/>
            <a:ext cx="6126480" cy="12344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3900" b="1">
                <a:solidFill>
                  <a:srgbClr val="FFFFFF"/>
                </a:solidFill>
                <a:latin typeface="Aptos"/>
              </a:rPr>
              <a:t>UNLOCK THE
GOP KNOWLEDGE.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2834640"/>
            <a:ext cx="557784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600" b="0">
                <a:solidFill>
                  <a:srgbClr val="AFAFB4"/>
                </a:solidFill>
                <a:latin typeface="Aptos"/>
              </a:rPr>
              <a:t>One intelligent experience to help Trade Operations find guidance, troubleshoot faster and reduce unnecessary escalations.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60920" y="1024128"/>
            <a:ext cx="3931920" cy="4297680"/>
          </a:xfrm>
          <a:prstGeom prst="roundRect">
            <a:avLst/>
          </a:prstGeom>
          <a:solidFill>
            <a:srgbClr val="141418"/>
          </a:solidFill>
          <a:ln>
            <a:solidFill>
              <a:srgbClr val="4B4B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183879" y="1627632"/>
            <a:ext cx="2286000" cy="6400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4200" b="1">
                <a:solidFill>
                  <a:srgbClr val="FFFFFF"/>
                </a:solidFill>
                <a:latin typeface="Aptos"/>
              </a:rPr>
              <a:t>GOP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75320" y="2788920"/>
            <a:ext cx="2103120" cy="1417320"/>
          </a:xfrm>
          <a:prstGeom prst="roundRect">
            <a:avLst/>
          </a:prstGeom>
          <a:solidFill>
            <a:srgbClr val="DB0011"/>
          </a:solidFill>
          <a:ln>
            <a:solidFill>
              <a:srgbClr val="DB00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915400" y="3063240"/>
            <a:ext cx="822960" cy="6400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3000" b="1">
                <a:solidFill>
                  <a:srgbClr val="FFFFFF"/>
                </a:solidFill>
                <a:latin typeface="Aptos"/>
              </a:rPr>
              <a:t>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818120" y="4480560"/>
            <a:ext cx="301752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ptos"/>
              </a:rPr>
              <a:t>THE RIGHT ANSWER.
WHEN YOU NEED IT.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8368" y="4800600"/>
            <a:ext cx="3108960" cy="914400"/>
          </a:xfrm>
          <a:prstGeom prst="roundRect">
            <a:avLst/>
          </a:prstGeom>
          <a:solidFill>
            <a:srgbClr val="141418"/>
          </a:solidFill>
          <a:ln>
            <a:solidFill>
              <a:srgbClr val="4B4B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95528" y="4937760"/>
            <a:ext cx="411480" cy="25603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100" b="1">
                <a:solidFill>
                  <a:srgbClr val="DB0011"/>
                </a:solidFill>
                <a:latin typeface="Aptos"/>
              </a:rPr>
              <a:t>01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16736" y="4901184"/>
            <a:ext cx="822960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Aptos"/>
              </a:rPr>
              <a:t>FIND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16736" y="5175504"/>
            <a:ext cx="2194560" cy="310896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100" b="0">
                <a:solidFill>
                  <a:srgbClr val="AFAFB4"/>
                </a:solidFill>
                <a:latin typeface="Aptos"/>
              </a:rPr>
              <a:t>Information in seconds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178808" y="4800600"/>
            <a:ext cx="3108960" cy="914400"/>
          </a:xfrm>
          <a:prstGeom prst="roundRect">
            <a:avLst/>
          </a:prstGeom>
          <a:solidFill>
            <a:srgbClr val="141418"/>
          </a:solidFill>
          <a:ln>
            <a:solidFill>
              <a:srgbClr val="4B4B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315968" y="4937760"/>
            <a:ext cx="411480" cy="25603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100" b="1">
                <a:solidFill>
                  <a:srgbClr val="DB0011"/>
                </a:solidFill>
                <a:latin typeface="Aptos"/>
              </a:rPr>
              <a:t>02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837176" y="4901184"/>
            <a:ext cx="822960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Aptos"/>
              </a:rPr>
              <a:t>ASK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837176" y="5175504"/>
            <a:ext cx="2194560" cy="310896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100" b="0">
                <a:solidFill>
                  <a:srgbClr val="AFAFB4"/>
                </a:solidFill>
                <a:latin typeface="Aptos"/>
              </a:rPr>
              <a:t>AI-powered insights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699248" y="4800600"/>
            <a:ext cx="3108960" cy="914400"/>
          </a:xfrm>
          <a:prstGeom prst="roundRect">
            <a:avLst/>
          </a:prstGeom>
          <a:solidFill>
            <a:srgbClr val="141418"/>
          </a:solidFill>
          <a:ln>
            <a:solidFill>
              <a:srgbClr val="4B4B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836408" y="4937760"/>
            <a:ext cx="411480" cy="25603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100" b="1">
                <a:solidFill>
                  <a:srgbClr val="DB0011"/>
                </a:solidFill>
                <a:latin typeface="Aptos"/>
              </a:rPr>
              <a:t>03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57616" y="4901184"/>
            <a:ext cx="822960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Aptos"/>
              </a:rPr>
              <a:t>ACT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57616" y="5175504"/>
            <a:ext cx="2194560" cy="310896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100" b="0">
                <a:solidFill>
                  <a:srgbClr val="AFAFB4"/>
                </a:solidFill>
                <a:latin typeface="Aptos"/>
              </a:rPr>
              <a:t>Faster resolution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60920" y="5559552"/>
            <a:ext cx="393192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2000" b="1">
                <a:solidFill>
                  <a:srgbClr val="DB0011"/>
                </a:solidFill>
                <a:latin typeface="Aptos"/>
              </a:rPr>
              <a:t>GTS GOP AGENT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60920" y="5870448"/>
            <a:ext cx="393192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COMING SOON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360920" y="6181344"/>
            <a:ext cx="3931920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100" b="0">
                <a:solidFill>
                  <a:srgbClr val="AFAFB4"/>
                </a:solidFill>
                <a:latin typeface="Aptos"/>
              </a:rPr>
              <a:t>Be ready. Be ahead.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86400" y="6510528"/>
            <a:ext cx="1188720" cy="182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800" b="0">
                <a:solidFill>
                  <a:srgbClr val="AFAFB4"/>
                </a:solidFill>
                <a:latin typeface="Aptos"/>
              </a:rPr>
              <a:t>INTERNAL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11480" y="6437376"/>
            <a:ext cx="2286000" cy="228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800" b="0">
                <a:solidFill>
                  <a:srgbClr val="AFAFB4"/>
                </a:solidFill>
                <a:latin typeface="Aptos"/>
              </a:rPr>
              <a:t>GTS • Trade Operations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646920" y="6428232"/>
            <a:ext cx="2103120" cy="228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sz="900" b="1">
                <a:solidFill>
                  <a:srgbClr val="FFFFFF"/>
                </a:solidFill>
                <a:latin typeface="Aptos"/>
              </a:rPr>
              <a:t>#SmarterTogether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