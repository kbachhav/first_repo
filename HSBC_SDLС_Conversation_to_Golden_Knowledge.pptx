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A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10698480" cy="1828800"/>
          </a:xfrm>
          <a:prstGeom prst="rect">
            <a:avLst/>
          </a:prstGeom>
          <a:noFill/>
        </p:spPr>
        <p:txBody>
          <a:bodyPr wrap="square">
            <a:spAutoFit/>
          </a:bodyPr>
          <a:lstStyle/>
          <a:p>
            <a:r>
              <a:rPr sz="3600" b="1">
                <a:solidFill>
                  <a:srgbClr val="FFFFFF"/>
                </a:solidFill>
                <a:latin typeface="Aptos Display"/>
              </a:rPr>
              <a:t>From Zoom Conversations to Golden Knowledge</a:t>
            </a:r>
          </a:p>
          <a:p>
            <a:r>
              <a:rPr sz="2000">
                <a:solidFill>
                  <a:srgbClr val="CDDCEB"/>
                </a:solidFill>
                <a:latin typeface="Aptos"/>
              </a:rPr>
              <a:t>Turning SDLC discussions into structured, reusable business &amp; engineering knowledge</a:t>
            </a:r>
          </a:p>
        </p:txBody>
      </p:sp>
      <p:sp>
        <p:nvSpPr>
          <p:cNvPr id="6" name="Rounded Rectangle 5"/>
          <p:cNvSpPr/>
          <p:nvPr/>
        </p:nvSpPr>
        <p:spPr>
          <a:xfrm>
            <a:off x="777240" y="3657600"/>
            <a:ext cx="3246120" cy="123444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3657600"/>
            <a:ext cx="73152" cy="123444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3794760"/>
            <a:ext cx="2898648" cy="347472"/>
          </a:xfrm>
          <a:prstGeom prst="rect">
            <a:avLst/>
          </a:prstGeom>
          <a:noFill/>
        </p:spPr>
        <p:txBody>
          <a:bodyPr wrap="none">
            <a:spAutoFit/>
          </a:bodyPr>
          <a:lstStyle/>
          <a:p>
            <a:r>
              <a:rPr sz="1500" b="1">
                <a:solidFill>
                  <a:srgbClr val="142A4A"/>
                </a:solidFill>
                <a:latin typeface="Aptos"/>
              </a:rPr>
              <a:t>Capture</a:t>
            </a:r>
          </a:p>
        </p:txBody>
      </p:sp>
      <p:sp>
        <p:nvSpPr>
          <p:cNvPr id="9" name="TextBox 8"/>
          <p:cNvSpPr txBox="1"/>
          <p:nvPr/>
        </p:nvSpPr>
        <p:spPr>
          <a:xfrm>
            <a:off x="978408" y="4187952"/>
            <a:ext cx="2880360" cy="594360"/>
          </a:xfrm>
          <a:prstGeom prst="rect">
            <a:avLst/>
          </a:prstGeom>
          <a:noFill/>
        </p:spPr>
        <p:txBody>
          <a:bodyPr wrap="square">
            <a:spAutoFit/>
          </a:bodyPr>
          <a:lstStyle/>
          <a:p>
            <a:pPr>
              <a:defRPr sz="1150">
                <a:solidFill>
                  <a:srgbClr val="232B34"/>
                </a:solidFill>
                <a:latin typeface="Aptos"/>
              </a:defRPr>
            </a:pPr>
            <a:r>
              <a:t>Zoom recordings and transcripts become durable enterprise inputs.</a:t>
            </a:r>
          </a:p>
        </p:txBody>
      </p:sp>
      <p:sp>
        <p:nvSpPr>
          <p:cNvPr id="10" name="Rounded Rectangle 9"/>
          <p:cNvSpPr/>
          <p:nvPr/>
        </p:nvSpPr>
        <p:spPr>
          <a:xfrm>
            <a:off x="4251960" y="3657600"/>
            <a:ext cx="3246120" cy="123444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3657600"/>
            <a:ext cx="73152" cy="123444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3128" y="3794760"/>
            <a:ext cx="2898648" cy="347472"/>
          </a:xfrm>
          <a:prstGeom prst="rect">
            <a:avLst/>
          </a:prstGeom>
          <a:noFill/>
        </p:spPr>
        <p:txBody>
          <a:bodyPr wrap="none">
            <a:spAutoFit/>
          </a:bodyPr>
          <a:lstStyle/>
          <a:p>
            <a:r>
              <a:rPr sz="1500" b="1">
                <a:solidFill>
                  <a:srgbClr val="142A4A"/>
                </a:solidFill>
                <a:latin typeface="Aptos"/>
              </a:rPr>
              <a:t>Engineer</a:t>
            </a:r>
          </a:p>
        </p:txBody>
      </p:sp>
      <p:sp>
        <p:nvSpPr>
          <p:cNvPr id="13" name="TextBox 12"/>
          <p:cNvSpPr txBox="1"/>
          <p:nvPr/>
        </p:nvSpPr>
        <p:spPr>
          <a:xfrm>
            <a:off x="4453128" y="4187952"/>
            <a:ext cx="2880360" cy="594360"/>
          </a:xfrm>
          <a:prstGeom prst="rect">
            <a:avLst/>
          </a:prstGeom>
          <a:noFill/>
        </p:spPr>
        <p:txBody>
          <a:bodyPr wrap="square">
            <a:spAutoFit/>
          </a:bodyPr>
          <a:lstStyle/>
          <a:p>
            <a:pPr>
              <a:defRPr sz="1150">
                <a:solidFill>
                  <a:srgbClr val="232B34"/>
                </a:solidFill>
                <a:latin typeface="Aptos"/>
              </a:defRPr>
            </a:pPr>
            <a:r>
              <a:t>Agent 1 normalizes; Agent 2 structures knowledge.</a:t>
            </a:r>
          </a:p>
        </p:txBody>
      </p:sp>
      <p:sp>
        <p:nvSpPr>
          <p:cNvPr id="14" name="Rounded Rectangle 13"/>
          <p:cNvSpPr/>
          <p:nvPr/>
        </p:nvSpPr>
        <p:spPr>
          <a:xfrm>
            <a:off x="7726679" y="3657600"/>
            <a:ext cx="3246120" cy="123444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26679" y="3657600"/>
            <a:ext cx="73152" cy="123444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7848" y="3794760"/>
            <a:ext cx="2898648" cy="347472"/>
          </a:xfrm>
          <a:prstGeom prst="rect">
            <a:avLst/>
          </a:prstGeom>
          <a:noFill/>
        </p:spPr>
        <p:txBody>
          <a:bodyPr wrap="none">
            <a:spAutoFit/>
          </a:bodyPr>
          <a:lstStyle/>
          <a:p>
            <a:r>
              <a:rPr sz="1500" b="1">
                <a:solidFill>
                  <a:srgbClr val="142A4A"/>
                </a:solidFill>
                <a:latin typeface="Aptos"/>
              </a:rPr>
              <a:t>Reuse</a:t>
            </a:r>
          </a:p>
        </p:txBody>
      </p:sp>
      <p:sp>
        <p:nvSpPr>
          <p:cNvPr id="17" name="TextBox 16"/>
          <p:cNvSpPr txBox="1"/>
          <p:nvPr/>
        </p:nvSpPr>
        <p:spPr>
          <a:xfrm>
            <a:off x="7927848" y="4187952"/>
            <a:ext cx="2880360" cy="594360"/>
          </a:xfrm>
          <a:prstGeom prst="rect">
            <a:avLst/>
          </a:prstGeom>
          <a:noFill/>
        </p:spPr>
        <p:txBody>
          <a:bodyPr wrap="square">
            <a:spAutoFit/>
          </a:bodyPr>
          <a:lstStyle/>
          <a:p>
            <a:pPr>
              <a:defRPr sz="1150">
                <a:solidFill>
                  <a:srgbClr val="232B34"/>
                </a:solidFill>
                <a:latin typeface="Aptos"/>
              </a:defRPr>
            </a:pPr>
            <a:r>
              <a:t>Knowledge graph + GAIP RAG + development context.</a:t>
            </a:r>
          </a:p>
        </p:txBody>
      </p:sp>
      <p:sp>
        <p:nvSpPr>
          <p:cNvPr id="18" name="TextBox 17"/>
          <p:cNvSpPr txBox="1"/>
          <p:nvPr/>
        </p:nvSpPr>
        <p:spPr>
          <a:xfrm>
            <a:off x="777240" y="5577840"/>
            <a:ext cx="10789920" cy="548640"/>
          </a:xfrm>
          <a:prstGeom prst="rect">
            <a:avLst/>
          </a:prstGeom>
          <a:noFill/>
        </p:spPr>
        <p:txBody>
          <a:bodyPr wrap="none">
            <a:spAutoFit/>
          </a:bodyPr>
          <a:lstStyle/>
          <a:p>
            <a:r>
              <a:rPr sz="1050">
                <a:solidFill>
                  <a:srgbClr val="BECDDC"/>
                </a:solidFill>
              </a:rPr>
              <a:t>Conceptual enterprise architecture | Applicable across Requirements, Design, Grooming, Development, Testing, UAT &amp; Production</a:t>
            </a:r>
          </a:p>
        </p:txBody>
      </p:sp>
      <p:sp>
        <p:nvSpPr>
          <p:cNvPr id="19" name="Rectangle 18"/>
          <p:cNvSpPr/>
          <p:nvPr/>
        </p:nvSpPr>
        <p:spPr>
          <a:xfrm>
            <a:off x="0" y="6601968"/>
            <a:ext cx="12191695" cy="256032"/>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1" name="TextBox 20"/>
          <p:cNvSpPr txBox="1"/>
          <p:nvPr/>
        </p:nvSpPr>
        <p:spPr>
          <a:xfrm>
            <a:off x="11064240" y="6592824"/>
            <a:ext cx="502920" cy="182880"/>
          </a:xfrm>
          <a:prstGeom prst="rect">
            <a:avLst/>
          </a:prstGeom>
          <a:noFill/>
        </p:spPr>
        <p:txBody>
          <a:bodyPr wrap="none">
            <a:spAutoFit/>
          </a:bodyPr>
          <a:lstStyle/>
          <a:p>
            <a:pPr algn="r"/>
            <a:r>
              <a:rPr sz="800">
                <a:solidFill>
                  <a:srgbClr val="FFFFFF"/>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Executive summary</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 opportunity is not “another RAG pipeline” — it is a conversation-to-knowledge capability.</a:t>
            </a:r>
          </a:p>
        </p:txBody>
      </p:sp>
      <p:sp>
        <p:nvSpPr>
          <p:cNvPr id="5" name="Rounded Rectangle 4"/>
          <p:cNvSpPr/>
          <p:nvPr/>
        </p:nvSpPr>
        <p:spPr>
          <a:xfrm>
            <a:off x="640080" y="1325880"/>
            <a:ext cx="347472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448056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63039"/>
            <a:ext cx="3127248" cy="347472"/>
          </a:xfrm>
          <a:prstGeom prst="rect">
            <a:avLst/>
          </a:prstGeom>
          <a:noFill/>
        </p:spPr>
        <p:txBody>
          <a:bodyPr wrap="none">
            <a:spAutoFit/>
          </a:bodyPr>
          <a:lstStyle/>
          <a:p>
            <a:r>
              <a:rPr sz="1700" b="1">
                <a:solidFill>
                  <a:srgbClr val="142A4A"/>
                </a:solidFill>
                <a:latin typeface="Aptos"/>
              </a:rPr>
              <a:t>The problem</a:t>
            </a:r>
          </a:p>
        </p:txBody>
      </p:sp>
      <p:sp>
        <p:nvSpPr>
          <p:cNvPr id="8" name="TextBox 7"/>
          <p:cNvSpPr txBox="1"/>
          <p:nvPr/>
        </p:nvSpPr>
        <p:spPr>
          <a:xfrm>
            <a:off x="841247" y="1856231"/>
            <a:ext cx="3108960" cy="3840480"/>
          </a:xfrm>
          <a:prstGeom prst="rect">
            <a:avLst/>
          </a:prstGeom>
          <a:noFill/>
        </p:spPr>
        <p:txBody>
          <a:bodyPr wrap="square">
            <a:spAutoFit/>
          </a:bodyPr>
          <a:lstStyle/>
          <a:p>
            <a:pPr>
              <a:defRPr sz="1300">
                <a:solidFill>
                  <a:srgbClr val="232B34"/>
                </a:solidFill>
                <a:latin typeface="Aptos"/>
              </a:defRPr>
            </a:pPr>
            <a:r>
              <a:t>High-value decisions and business context are created in Zoom conversations but are difficult to reuse after the meeting.</a:t>
            </a:r>
            <a:br/>
            <a:br/>
            <a:r>
              <a:t>Raw VTT is noisy, conversational and poorly structured for downstream AI.</a:t>
            </a:r>
          </a:p>
        </p:txBody>
      </p:sp>
      <p:sp>
        <p:nvSpPr>
          <p:cNvPr id="9" name="Rounded Rectangle 8"/>
          <p:cNvSpPr/>
          <p:nvPr/>
        </p:nvSpPr>
        <p:spPr>
          <a:xfrm>
            <a:off x="4370832" y="1325880"/>
            <a:ext cx="347472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325880"/>
            <a:ext cx="73152" cy="44805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463039"/>
            <a:ext cx="3127248" cy="347472"/>
          </a:xfrm>
          <a:prstGeom prst="rect">
            <a:avLst/>
          </a:prstGeom>
          <a:noFill/>
        </p:spPr>
        <p:txBody>
          <a:bodyPr wrap="none">
            <a:spAutoFit/>
          </a:bodyPr>
          <a:lstStyle/>
          <a:p>
            <a:r>
              <a:rPr sz="1700" b="1">
                <a:solidFill>
                  <a:srgbClr val="142A4A"/>
                </a:solidFill>
                <a:latin typeface="Aptos"/>
              </a:rPr>
              <a:t>The proposal</a:t>
            </a:r>
          </a:p>
        </p:txBody>
      </p:sp>
      <p:sp>
        <p:nvSpPr>
          <p:cNvPr id="12" name="TextBox 11"/>
          <p:cNvSpPr txBox="1"/>
          <p:nvPr/>
        </p:nvSpPr>
        <p:spPr>
          <a:xfrm>
            <a:off x="4572000" y="1856231"/>
            <a:ext cx="3108960" cy="3840480"/>
          </a:xfrm>
          <a:prstGeom prst="rect">
            <a:avLst/>
          </a:prstGeom>
          <a:noFill/>
        </p:spPr>
        <p:txBody>
          <a:bodyPr wrap="square">
            <a:spAutoFit/>
          </a:bodyPr>
          <a:lstStyle/>
          <a:p>
            <a:pPr>
              <a:defRPr sz="1300">
                <a:solidFill>
                  <a:srgbClr val="232B34"/>
                </a:solidFill>
                <a:latin typeface="Aptos"/>
              </a:defRPr>
            </a:pPr>
            <a:r>
              <a:t>Use Microsoft 365 + SharePoint + Microsoft Stream as the capture/governance foundation.</a:t>
            </a:r>
            <a:br/>
            <a:br/>
            <a:r>
              <a:t>Add two focused agents:</a:t>
            </a:r>
            <a:br/>
            <a:r>
              <a:t>• Agent 1 — normalize transcript</a:t>
            </a:r>
            <a:br/>
            <a:r>
              <a:t>• Agent 2 — structure knowledge</a:t>
            </a:r>
            <a:br/>
            <a:br/>
            <a:r>
              <a:t>Introduce Agent 3 later when metadata-aware retrieval matures.</a:t>
            </a:r>
          </a:p>
        </p:txBody>
      </p:sp>
      <p:sp>
        <p:nvSpPr>
          <p:cNvPr id="13" name="Rounded Rectangle 12"/>
          <p:cNvSpPr/>
          <p:nvPr/>
        </p:nvSpPr>
        <p:spPr>
          <a:xfrm>
            <a:off x="8101583" y="1325880"/>
            <a:ext cx="347472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01583" y="1325880"/>
            <a:ext cx="73152" cy="448056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463039"/>
            <a:ext cx="3127248" cy="347472"/>
          </a:xfrm>
          <a:prstGeom prst="rect">
            <a:avLst/>
          </a:prstGeom>
          <a:noFill/>
        </p:spPr>
        <p:txBody>
          <a:bodyPr wrap="none">
            <a:spAutoFit/>
          </a:bodyPr>
          <a:lstStyle/>
          <a:p>
            <a:r>
              <a:rPr sz="1700" b="1">
                <a:solidFill>
                  <a:srgbClr val="142A4A"/>
                </a:solidFill>
                <a:latin typeface="Aptos"/>
              </a:rPr>
              <a:t>The outcome</a:t>
            </a:r>
          </a:p>
        </p:txBody>
      </p:sp>
      <p:sp>
        <p:nvSpPr>
          <p:cNvPr id="16" name="TextBox 15"/>
          <p:cNvSpPr txBox="1"/>
          <p:nvPr/>
        </p:nvSpPr>
        <p:spPr>
          <a:xfrm>
            <a:off x="8302752" y="1856231"/>
            <a:ext cx="3108960" cy="3840480"/>
          </a:xfrm>
          <a:prstGeom prst="rect">
            <a:avLst/>
          </a:prstGeom>
          <a:noFill/>
        </p:spPr>
        <p:txBody>
          <a:bodyPr wrap="square">
            <a:spAutoFit/>
          </a:bodyPr>
          <a:lstStyle/>
          <a:p>
            <a:pPr>
              <a:defRPr sz="1300">
                <a:solidFill>
                  <a:srgbClr val="232B34"/>
                </a:solidFill>
                <a:latin typeface="Aptos"/>
              </a:defRPr>
            </a:pPr>
            <a:r>
              <a:t>A governed “golden knowledge” layer that can feed:</a:t>
            </a:r>
            <a:br/>
            <a:br/>
            <a:r>
              <a:t>• GAIP RAG</a:t>
            </a:r>
            <a:br/>
            <a:r>
              <a:t>• Copilot/development agents</a:t>
            </a:r>
            <a:br/>
            <a:r>
              <a:t>• Search</a:t>
            </a:r>
            <a:br/>
            <a:r>
              <a:t>• Requirements &amp; test generation</a:t>
            </a:r>
            <a:br/>
            <a:r>
              <a:t>• Knowledge graph use cases</a:t>
            </a:r>
            <a:br/>
            <a:br/>
            <a:r>
              <a:t>RAG becomes a consumer, not the definition of the solution.</a:t>
            </a:r>
          </a:p>
        </p:txBody>
      </p:sp>
      <p:sp>
        <p:nvSpPr>
          <p:cNvPr id="17" name="Rectangle 16"/>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19" name="TextBox 18"/>
          <p:cNvSpPr txBox="1"/>
          <p:nvPr/>
        </p:nvSpPr>
        <p:spPr>
          <a:xfrm>
            <a:off x="11064240" y="6592824"/>
            <a:ext cx="502920" cy="182880"/>
          </a:xfrm>
          <a:prstGeom prst="rect">
            <a:avLst/>
          </a:prstGeom>
          <a:noFill/>
        </p:spPr>
        <p:txBody>
          <a:bodyPr wrap="none">
            <a:spAutoFit/>
          </a:bodyPr>
          <a:lstStyle/>
          <a:p>
            <a:pPr algn="r"/>
            <a:r>
              <a:rPr sz="800">
                <a:solidFill>
                  <a:srgbClr val="FFFFF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One capability across the full SDLC</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 same pattern applies wherever Zoom captures decisions, requirements, constraints or lessons learned.</a:t>
            </a:r>
          </a:p>
        </p:txBody>
      </p:sp>
      <p:sp>
        <p:nvSpPr>
          <p:cNvPr id="5" name="Rounded Rectangle 4"/>
          <p:cNvSpPr/>
          <p:nvPr/>
        </p:nvSpPr>
        <p:spPr>
          <a:xfrm>
            <a:off x="502920"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73152" cy="297180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554480"/>
            <a:ext cx="1316736" cy="347472"/>
          </a:xfrm>
          <a:prstGeom prst="rect">
            <a:avLst/>
          </a:prstGeom>
          <a:noFill/>
        </p:spPr>
        <p:txBody>
          <a:bodyPr wrap="none">
            <a:spAutoFit/>
          </a:bodyPr>
          <a:lstStyle/>
          <a:p>
            <a:r>
              <a:rPr sz="1320" b="1">
                <a:solidFill>
                  <a:srgbClr val="142A4A"/>
                </a:solidFill>
                <a:latin typeface="Aptos"/>
              </a:rPr>
              <a:t>Requirements</a:t>
            </a:r>
          </a:p>
        </p:txBody>
      </p:sp>
      <p:sp>
        <p:nvSpPr>
          <p:cNvPr id="8" name="TextBox 7"/>
          <p:cNvSpPr txBox="1"/>
          <p:nvPr/>
        </p:nvSpPr>
        <p:spPr>
          <a:xfrm>
            <a:off x="704088" y="1947672"/>
            <a:ext cx="1298448" cy="2331720"/>
          </a:xfrm>
          <a:prstGeom prst="rect">
            <a:avLst/>
          </a:prstGeom>
          <a:noFill/>
        </p:spPr>
        <p:txBody>
          <a:bodyPr wrap="square">
            <a:spAutoFit/>
          </a:bodyPr>
          <a:lstStyle/>
          <a:p>
            <a:pPr>
              <a:defRPr sz="1100">
                <a:solidFill>
                  <a:srgbClr val="232B34"/>
                </a:solidFill>
                <a:latin typeface="Aptos"/>
              </a:defRPr>
            </a:pPr>
            <a:r>
              <a:t>Business needs</a:t>
            </a:r>
            <a:br/>
            <a:r>
              <a:t>Rules</a:t>
            </a:r>
            <a:br/>
            <a:r>
              <a:t>Assumptions</a:t>
            </a:r>
          </a:p>
        </p:txBody>
      </p:sp>
      <p:cxnSp>
        <p:nvCxnSpPr>
          <p:cNvPr id="9" name="Connector 8"/>
          <p:cNvCxnSpPr/>
          <p:nvPr/>
        </p:nvCxnSpPr>
        <p:spPr>
          <a:xfrm>
            <a:off x="2167128" y="2880360"/>
            <a:ext cx="237744" cy="0"/>
          </a:xfrm>
          <a:prstGeom prst="line">
            <a:avLst/>
          </a:prstGeom>
          <a:ln w="19050">
            <a:solidFill>
              <a:srgbClr val="DCE3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41448"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41448" y="1417320"/>
            <a:ext cx="73152" cy="297180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42616" y="1554480"/>
            <a:ext cx="1316736" cy="347472"/>
          </a:xfrm>
          <a:prstGeom prst="rect">
            <a:avLst/>
          </a:prstGeom>
          <a:noFill/>
        </p:spPr>
        <p:txBody>
          <a:bodyPr wrap="none">
            <a:spAutoFit/>
          </a:bodyPr>
          <a:lstStyle/>
          <a:p>
            <a:r>
              <a:rPr sz="1320" b="1">
                <a:solidFill>
                  <a:srgbClr val="142A4A"/>
                </a:solidFill>
                <a:latin typeface="Aptos"/>
              </a:rPr>
              <a:t>Architecture / Design</a:t>
            </a:r>
          </a:p>
        </p:txBody>
      </p:sp>
      <p:sp>
        <p:nvSpPr>
          <p:cNvPr id="13" name="TextBox 12"/>
          <p:cNvSpPr txBox="1"/>
          <p:nvPr/>
        </p:nvSpPr>
        <p:spPr>
          <a:xfrm>
            <a:off x="2642616" y="1947672"/>
            <a:ext cx="1298448" cy="2331720"/>
          </a:xfrm>
          <a:prstGeom prst="rect">
            <a:avLst/>
          </a:prstGeom>
          <a:noFill/>
        </p:spPr>
        <p:txBody>
          <a:bodyPr wrap="square">
            <a:spAutoFit/>
          </a:bodyPr>
          <a:lstStyle/>
          <a:p>
            <a:pPr>
              <a:defRPr sz="1100">
                <a:solidFill>
                  <a:srgbClr val="232B34"/>
                </a:solidFill>
                <a:latin typeface="Aptos"/>
              </a:defRPr>
            </a:pPr>
            <a:r>
              <a:t>Decisions</a:t>
            </a:r>
            <a:br/>
            <a:r>
              <a:t>Trade-offs</a:t>
            </a:r>
            <a:br/>
            <a:r>
              <a:t>Dependencies</a:t>
            </a:r>
          </a:p>
        </p:txBody>
      </p:sp>
      <p:cxnSp>
        <p:nvCxnSpPr>
          <p:cNvPr id="14" name="Connector 13"/>
          <p:cNvCxnSpPr/>
          <p:nvPr/>
        </p:nvCxnSpPr>
        <p:spPr>
          <a:xfrm>
            <a:off x="4105656" y="2880360"/>
            <a:ext cx="237744" cy="0"/>
          </a:xfrm>
          <a:prstGeom prst="line">
            <a:avLst/>
          </a:prstGeom>
          <a:ln w="19050">
            <a:solidFill>
              <a:srgbClr val="DCE3E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79976"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9976" y="1417320"/>
            <a:ext cx="73152" cy="29718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1554480"/>
            <a:ext cx="1316736" cy="347472"/>
          </a:xfrm>
          <a:prstGeom prst="rect">
            <a:avLst/>
          </a:prstGeom>
          <a:noFill/>
        </p:spPr>
        <p:txBody>
          <a:bodyPr wrap="none">
            <a:spAutoFit/>
          </a:bodyPr>
          <a:lstStyle/>
          <a:p>
            <a:r>
              <a:rPr sz="1320" b="1">
                <a:solidFill>
                  <a:srgbClr val="142A4A"/>
                </a:solidFill>
                <a:latin typeface="Aptos"/>
              </a:rPr>
              <a:t>Grooming</a:t>
            </a:r>
          </a:p>
        </p:txBody>
      </p:sp>
      <p:sp>
        <p:nvSpPr>
          <p:cNvPr id="18" name="TextBox 17"/>
          <p:cNvSpPr txBox="1"/>
          <p:nvPr/>
        </p:nvSpPr>
        <p:spPr>
          <a:xfrm>
            <a:off x="4581144" y="1947672"/>
            <a:ext cx="1298448" cy="2331720"/>
          </a:xfrm>
          <a:prstGeom prst="rect">
            <a:avLst/>
          </a:prstGeom>
          <a:noFill/>
        </p:spPr>
        <p:txBody>
          <a:bodyPr wrap="square">
            <a:spAutoFit/>
          </a:bodyPr>
          <a:lstStyle/>
          <a:p>
            <a:pPr>
              <a:defRPr sz="1100">
                <a:solidFill>
                  <a:srgbClr val="232B34"/>
                </a:solidFill>
                <a:latin typeface="Aptos"/>
              </a:defRPr>
            </a:pPr>
            <a:r>
              <a:t>Stories</a:t>
            </a:r>
            <a:br/>
            <a:r>
              <a:t>Acceptance criteria</a:t>
            </a:r>
            <a:br/>
            <a:r>
              <a:t>Open questions</a:t>
            </a:r>
          </a:p>
        </p:txBody>
      </p:sp>
      <p:cxnSp>
        <p:nvCxnSpPr>
          <p:cNvPr id="19" name="Connector 18"/>
          <p:cNvCxnSpPr/>
          <p:nvPr/>
        </p:nvCxnSpPr>
        <p:spPr>
          <a:xfrm>
            <a:off x="6044184" y="2880360"/>
            <a:ext cx="237744" cy="0"/>
          </a:xfrm>
          <a:prstGeom prst="line">
            <a:avLst/>
          </a:prstGeom>
          <a:ln w="19050">
            <a:solidFill>
              <a:srgbClr val="DCE3E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18504"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18504" y="1417320"/>
            <a:ext cx="73152" cy="297180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1554480"/>
            <a:ext cx="1316736" cy="347472"/>
          </a:xfrm>
          <a:prstGeom prst="rect">
            <a:avLst/>
          </a:prstGeom>
          <a:noFill/>
        </p:spPr>
        <p:txBody>
          <a:bodyPr wrap="none">
            <a:spAutoFit/>
          </a:bodyPr>
          <a:lstStyle/>
          <a:p>
            <a:r>
              <a:rPr sz="1320" b="1">
                <a:solidFill>
                  <a:srgbClr val="142A4A"/>
                </a:solidFill>
                <a:latin typeface="Aptos"/>
              </a:rPr>
              <a:t>Development</a:t>
            </a:r>
          </a:p>
        </p:txBody>
      </p:sp>
      <p:sp>
        <p:nvSpPr>
          <p:cNvPr id="23" name="TextBox 22"/>
          <p:cNvSpPr txBox="1"/>
          <p:nvPr/>
        </p:nvSpPr>
        <p:spPr>
          <a:xfrm>
            <a:off x="6519672" y="1947672"/>
            <a:ext cx="1298448" cy="2331720"/>
          </a:xfrm>
          <a:prstGeom prst="rect">
            <a:avLst/>
          </a:prstGeom>
          <a:noFill/>
        </p:spPr>
        <p:txBody>
          <a:bodyPr wrap="square">
            <a:spAutoFit/>
          </a:bodyPr>
          <a:lstStyle/>
          <a:p>
            <a:pPr>
              <a:defRPr sz="1100">
                <a:solidFill>
                  <a:srgbClr val="232B34"/>
                </a:solidFill>
                <a:latin typeface="Aptos"/>
              </a:defRPr>
            </a:pPr>
            <a:r>
              <a:t>Implementation</a:t>
            </a:r>
            <a:br/>
            <a:r>
              <a:t>Constraints</a:t>
            </a:r>
            <a:br/>
            <a:r>
              <a:t>Decisions</a:t>
            </a:r>
          </a:p>
        </p:txBody>
      </p:sp>
      <p:cxnSp>
        <p:nvCxnSpPr>
          <p:cNvPr id="24" name="Connector 23"/>
          <p:cNvCxnSpPr/>
          <p:nvPr/>
        </p:nvCxnSpPr>
        <p:spPr>
          <a:xfrm>
            <a:off x="7982712" y="2880360"/>
            <a:ext cx="237744" cy="0"/>
          </a:xfrm>
          <a:prstGeom prst="line">
            <a:avLst/>
          </a:prstGeom>
          <a:ln w="19050">
            <a:solidFill>
              <a:srgbClr val="DCE3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257032"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57032" y="1417320"/>
            <a:ext cx="73152" cy="297180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1554480"/>
            <a:ext cx="1316736" cy="347472"/>
          </a:xfrm>
          <a:prstGeom prst="rect">
            <a:avLst/>
          </a:prstGeom>
          <a:noFill/>
        </p:spPr>
        <p:txBody>
          <a:bodyPr wrap="none">
            <a:spAutoFit/>
          </a:bodyPr>
          <a:lstStyle/>
          <a:p>
            <a:r>
              <a:rPr sz="1320" b="1">
                <a:solidFill>
                  <a:srgbClr val="142A4A"/>
                </a:solidFill>
                <a:latin typeface="Aptos"/>
              </a:rPr>
              <a:t>Testing / UAT</a:t>
            </a:r>
          </a:p>
        </p:txBody>
      </p:sp>
      <p:sp>
        <p:nvSpPr>
          <p:cNvPr id="28" name="TextBox 27"/>
          <p:cNvSpPr txBox="1"/>
          <p:nvPr/>
        </p:nvSpPr>
        <p:spPr>
          <a:xfrm>
            <a:off x="8458200" y="1947672"/>
            <a:ext cx="1298448" cy="2331720"/>
          </a:xfrm>
          <a:prstGeom prst="rect">
            <a:avLst/>
          </a:prstGeom>
          <a:noFill/>
        </p:spPr>
        <p:txBody>
          <a:bodyPr wrap="square">
            <a:spAutoFit/>
          </a:bodyPr>
          <a:lstStyle/>
          <a:p>
            <a:pPr>
              <a:defRPr sz="1100">
                <a:solidFill>
                  <a:srgbClr val="232B34"/>
                </a:solidFill>
                <a:latin typeface="Aptos"/>
              </a:defRPr>
            </a:pPr>
            <a:r>
              <a:t>Scenarios</a:t>
            </a:r>
            <a:br/>
            <a:r>
              <a:t>Expected behaviour</a:t>
            </a:r>
            <a:br/>
            <a:r>
              <a:t>Defects</a:t>
            </a:r>
          </a:p>
        </p:txBody>
      </p:sp>
      <p:cxnSp>
        <p:nvCxnSpPr>
          <p:cNvPr id="29" name="Connector 28"/>
          <p:cNvCxnSpPr/>
          <p:nvPr/>
        </p:nvCxnSpPr>
        <p:spPr>
          <a:xfrm>
            <a:off x="9921240" y="2880360"/>
            <a:ext cx="237744" cy="0"/>
          </a:xfrm>
          <a:prstGeom prst="line">
            <a:avLst/>
          </a:prstGeom>
          <a:ln w="19050">
            <a:solidFill>
              <a:srgbClr val="DCE3E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195560" y="1417320"/>
            <a:ext cx="1664208" cy="2971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195560" y="1417320"/>
            <a:ext cx="73152" cy="297180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96728" y="1554480"/>
            <a:ext cx="1316736" cy="347472"/>
          </a:xfrm>
          <a:prstGeom prst="rect">
            <a:avLst/>
          </a:prstGeom>
          <a:noFill/>
        </p:spPr>
        <p:txBody>
          <a:bodyPr wrap="none">
            <a:spAutoFit/>
          </a:bodyPr>
          <a:lstStyle/>
          <a:p>
            <a:r>
              <a:rPr sz="1320" b="1">
                <a:solidFill>
                  <a:srgbClr val="142A4A"/>
                </a:solidFill>
                <a:latin typeface="Aptos"/>
              </a:rPr>
              <a:t>Production / PIR</a:t>
            </a:r>
          </a:p>
        </p:txBody>
      </p:sp>
      <p:sp>
        <p:nvSpPr>
          <p:cNvPr id="33" name="TextBox 32"/>
          <p:cNvSpPr txBox="1"/>
          <p:nvPr/>
        </p:nvSpPr>
        <p:spPr>
          <a:xfrm>
            <a:off x="10396728" y="1947672"/>
            <a:ext cx="1298448" cy="2331720"/>
          </a:xfrm>
          <a:prstGeom prst="rect">
            <a:avLst/>
          </a:prstGeom>
          <a:noFill/>
        </p:spPr>
        <p:txBody>
          <a:bodyPr wrap="square">
            <a:spAutoFit/>
          </a:bodyPr>
          <a:lstStyle/>
          <a:p>
            <a:pPr>
              <a:defRPr sz="1100">
                <a:solidFill>
                  <a:srgbClr val="232B34"/>
                </a:solidFill>
                <a:latin typeface="Aptos"/>
              </a:defRPr>
            </a:pPr>
            <a:r>
              <a:t>Root cause</a:t>
            </a:r>
            <a:br/>
            <a:r>
              <a:t>Resolution</a:t>
            </a:r>
            <a:br/>
            <a:r>
              <a:t>Lessons learned</a:t>
            </a:r>
          </a:p>
        </p:txBody>
      </p:sp>
      <p:sp>
        <p:nvSpPr>
          <p:cNvPr id="34" name="Rounded Rectangle 33"/>
          <p:cNvSpPr/>
          <p:nvPr/>
        </p:nvSpPr>
        <p:spPr>
          <a:xfrm>
            <a:off x="3108960" y="4892040"/>
            <a:ext cx="6035040" cy="329184"/>
          </a:xfrm>
          <a:prstGeom prst="round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CORE PRINCIPLE: CAPTURE ONCE, STRUCTURE ONCE, REUSE MANY TIMES</a:t>
            </a:r>
          </a:p>
        </p:txBody>
      </p:sp>
      <p:sp>
        <p:nvSpPr>
          <p:cNvPr id="35" name="TextBox 34"/>
          <p:cNvSpPr txBox="1"/>
          <p:nvPr/>
        </p:nvSpPr>
        <p:spPr>
          <a:xfrm>
            <a:off x="1005840" y="5349240"/>
            <a:ext cx="10149840" cy="960120"/>
          </a:xfrm>
          <a:prstGeom prst="rect">
            <a:avLst/>
          </a:prstGeom>
          <a:noFill/>
        </p:spPr>
        <p:txBody>
          <a:bodyPr wrap="square">
            <a:spAutoFit/>
          </a:bodyPr>
          <a:lstStyle/>
          <a:p>
            <a:pPr>
              <a:spcAft>
                <a:spcPts val="700"/>
              </a:spcAft>
              <a:defRPr sz="1150">
                <a:solidFill>
                  <a:srgbClr val="232B34"/>
                </a:solidFill>
                <a:latin typeface="Aptos"/>
              </a:defRPr>
            </a:pPr>
            <a:r>
              <a:t>The architecture is content-type agnostic: product training, FSR discussion, technical design forum, requirement discussion, grooming and testing all use the same foundation.</a:t>
            </a:r>
          </a:p>
          <a:p>
            <a:pPr>
              <a:spcAft>
                <a:spcPts val="700"/>
              </a:spcAft>
              <a:defRPr sz="1150">
                <a:solidFill>
                  <a:srgbClr val="232B34"/>
                </a:solidFill>
                <a:latin typeface="Aptos"/>
              </a:defRPr>
            </a:pPr>
            <a:r>
              <a:t>Agent 2 changes its extraction schema based on the discussion purpose — business requirements, technical decisions, test scenarios, incident learnings, etc.</a:t>
            </a:r>
          </a:p>
        </p:txBody>
      </p:sp>
      <p:sp>
        <p:nvSpPr>
          <p:cNvPr id="36" name="Rectangle 35"/>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8" name="TextBox 37"/>
          <p:cNvSpPr txBox="1"/>
          <p:nvPr/>
        </p:nvSpPr>
        <p:spPr>
          <a:xfrm>
            <a:off x="11064240" y="6592824"/>
            <a:ext cx="502920" cy="182880"/>
          </a:xfrm>
          <a:prstGeom prst="rect">
            <a:avLst/>
          </a:prstGeom>
          <a:noFill/>
        </p:spPr>
        <p:txBody>
          <a:bodyPr wrap="none">
            <a:spAutoFit/>
          </a:bodyPr>
          <a:lstStyle/>
          <a:p>
            <a:pPr algn="r"/>
            <a:r>
              <a:rPr sz="800">
                <a:solidFill>
                  <a:srgbClr val="FFFFF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From “recording archive” to “knowledge asset”</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Why the change matters.</a:t>
            </a:r>
          </a:p>
        </p:txBody>
      </p:sp>
      <p:sp>
        <p:nvSpPr>
          <p:cNvPr id="5" name="Rounded Rectangle 4"/>
          <p:cNvSpPr/>
          <p:nvPr/>
        </p:nvSpPr>
        <p:spPr>
          <a:xfrm>
            <a:off x="731520" y="1234440"/>
            <a:ext cx="5029200" cy="329184"/>
          </a:xfrm>
          <a:prstGeom prst="round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TODAY</a:t>
            </a:r>
          </a:p>
        </p:txBody>
      </p:sp>
      <p:sp>
        <p:nvSpPr>
          <p:cNvPr id="6" name="Rounded Rectangle 5"/>
          <p:cNvSpPr/>
          <p:nvPr/>
        </p:nvSpPr>
        <p:spPr>
          <a:xfrm>
            <a:off x="6400800" y="1234440"/>
            <a:ext cx="5029200" cy="329184"/>
          </a:xfrm>
          <a:prstGeom prst="round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TARGET</a:t>
            </a:r>
          </a:p>
        </p:txBody>
      </p:sp>
      <p:sp>
        <p:nvSpPr>
          <p:cNvPr id="7" name="TextBox 6"/>
          <p:cNvSpPr txBox="1"/>
          <p:nvPr/>
        </p:nvSpPr>
        <p:spPr>
          <a:xfrm>
            <a:off x="868680" y="1737360"/>
            <a:ext cx="4663440" cy="3566160"/>
          </a:xfrm>
          <a:prstGeom prst="rect">
            <a:avLst/>
          </a:prstGeom>
          <a:noFill/>
        </p:spPr>
        <p:txBody>
          <a:bodyPr wrap="square">
            <a:spAutoFit/>
          </a:bodyPr>
          <a:lstStyle/>
          <a:p>
            <a:pPr>
              <a:spcAft>
                <a:spcPts val="700"/>
              </a:spcAft>
              <a:defRPr sz="1600">
                <a:solidFill>
                  <a:srgbClr val="232B34"/>
                </a:solidFill>
                <a:latin typeface="Aptos"/>
              </a:defRPr>
            </a:pPr>
            <a:r>
              <a:t>Zoom recording / VTT exists</a:t>
            </a:r>
          </a:p>
          <a:p>
            <a:pPr>
              <a:spcAft>
                <a:spcPts val="700"/>
              </a:spcAft>
              <a:defRPr sz="1600">
                <a:solidFill>
                  <a:srgbClr val="232B34"/>
                </a:solidFill>
                <a:latin typeface="Aptos"/>
              </a:defRPr>
            </a:pPr>
            <a:r>
              <a:t>Knowledge is buried in conversation</a:t>
            </a:r>
          </a:p>
          <a:p>
            <a:pPr>
              <a:spcAft>
                <a:spcPts val="700"/>
              </a:spcAft>
              <a:defRPr sz="1600">
                <a:solidFill>
                  <a:srgbClr val="232B34"/>
                </a:solidFill>
                <a:latin typeface="Aptos"/>
              </a:defRPr>
            </a:pPr>
            <a:r>
              <a:t>Decisions are difficult to discover</a:t>
            </a:r>
          </a:p>
          <a:p>
            <a:pPr>
              <a:spcAft>
                <a:spcPts val="700"/>
              </a:spcAft>
              <a:defRPr sz="1600">
                <a:solidFill>
                  <a:srgbClr val="232B34"/>
                </a:solidFill>
                <a:latin typeface="Aptos"/>
              </a:defRPr>
            </a:pPr>
            <a:r>
              <a:t>Same question is re-explained repeatedly</a:t>
            </a:r>
          </a:p>
          <a:p>
            <a:pPr>
              <a:spcAft>
                <a:spcPts val="700"/>
              </a:spcAft>
              <a:defRPr sz="1600">
                <a:solidFill>
                  <a:srgbClr val="232B34"/>
                </a:solidFill>
                <a:latin typeface="Aptos"/>
              </a:defRPr>
            </a:pPr>
            <a:r>
              <a:t>RAG may ingest noisy conversation</a:t>
            </a:r>
          </a:p>
          <a:p>
            <a:pPr>
              <a:spcAft>
                <a:spcPts val="700"/>
              </a:spcAft>
              <a:defRPr sz="1600">
                <a:solidFill>
                  <a:srgbClr val="232B34"/>
                </a:solidFill>
                <a:latin typeface="Aptos"/>
              </a:defRPr>
            </a:pPr>
            <a:r>
              <a:t>Harder to trace why an answer was produced</a:t>
            </a:r>
          </a:p>
        </p:txBody>
      </p:sp>
      <p:sp>
        <p:nvSpPr>
          <p:cNvPr id="8" name="TextBox 7"/>
          <p:cNvSpPr txBox="1"/>
          <p:nvPr/>
        </p:nvSpPr>
        <p:spPr>
          <a:xfrm>
            <a:off x="6537960" y="1737360"/>
            <a:ext cx="4663440" cy="3657600"/>
          </a:xfrm>
          <a:prstGeom prst="rect">
            <a:avLst/>
          </a:prstGeom>
          <a:noFill/>
        </p:spPr>
        <p:txBody>
          <a:bodyPr wrap="square">
            <a:spAutoFit/>
          </a:bodyPr>
          <a:lstStyle/>
          <a:p>
            <a:pPr>
              <a:spcAft>
                <a:spcPts val="700"/>
              </a:spcAft>
              <a:defRPr sz="1600">
                <a:solidFill>
                  <a:srgbClr val="232B34"/>
                </a:solidFill>
                <a:latin typeface="Aptos"/>
              </a:defRPr>
            </a:pPr>
            <a:r>
              <a:t>SharePoint/Stream provides governed source</a:t>
            </a:r>
          </a:p>
          <a:p>
            <a:pPr>
              <a:spcAft>
                <a:spcPts val="700"/>
              </a:spcAft>
              <a:defRPr sz="1600">
                <a:solidFill>
                  <a:srgbClr val="232B34"/>
                </a:solidFill>
                <a:latin typeface="Aptos"/>
              </a:defRPr>
            </a:pPr>
            <a:r>
              <a:t>Agent 1 creates faithful normalized transcript</a:t>
            </a:r>
          </a:p>
          <a:p>
            <a:pPr>
              <a:spcAft>
                <a:spcPts val="700"/>
              </a:spcAft>
              <a:defRPr sz="1600">
                <a:solidFill>
                  <a:srgbClr val="232B34"/>
                </a:solidFill>
                <a:latin typeface="Aptos"/>
              </a:defRPr>
            </a:pPr>
            <a:r>
              <a:t>Human validates high-risk content</a:t>
            </a:r>
          </a:p>
          <a:p>
            <a:pPr>
              <a:spcAft>
                <a:spcPts val="700"/>
              </a:spcAft>
              <a:defRPr sz="1600">
                <a:solidFill>
                  <a:srgbClr val="232B34"/>
                </a:solidFill>
                <a:latin typeface="Aptos"/>
              </a:defRPr>
            </a:pPr>
            <a:r>
              <a:t>Agent 2 identifies reusable knowledge units</a:t>
            </a:r>
          </a:p>
          <a:p>
            <a:pPr>
              <a:spcAft>
                <a:spcPts val="700"/>
              </a:spcAft>
              <a:defRPr sz="1600">
                <a:solidFill>
                  <a:srgbClr val="232B34"/>
                </a:solidFill>
                <a:latin typeface="Aptos"/>
              </a:defRPr>
            </a:pPr>
            <a:r>
              <a:t>Knowledge graph preserves relationships</a:t>
            </a:r>
          </a:p>
          <a:p>
            <a:pPr>
              <a:spcAft>
                <a:spcPts val="700"/>
              </a:spcAft>
              <a:defRPr sz="1600">
                <a:solidFill>
                  <a:srgbClr val="232B34"/>
                </a:solidFill>
                <a:latin typeface="Aptos"/>
              </a:defRPr>
            </a:pPr>
            <a:r>
              <a:t>GAIP consumes structured, higher-quality evidence</a:t>
            </a:r>
          </a:p>
          <a:p>
            <a:pPr>
              <a:spcAft>
                <a:spcPts val="700"/>
              </a:spcAft>
              <a:defRPr sz="1600">
                <a:solidFill>
                  <a:srgbClr val="232B34"/>
                </a:solidFill>
                <a:latin typeface="Aptos"/>
              </a:defRPr>
            </a:pPr>
            <a:r>
              <a:t>Future Agent 3 enables metadata-aware retrieval</a:t>
            </a:r>
          </a:p>
        </p:txBody>
      </p:sp>
      <p:cxnSp>
        <p:nvCxnSpPr>
          <p:cNvPr id="9" name="Connector 8"/>
          <p:cNvCxnSpPr/>
          <p:nvPr/>
        </p:nvCxnSpPr>
        <p:spPr>
          <a:xfrm>
            <a:off x="5715000" y="3291840"/>
            <a:ext cx="594360" cy="0"/>
          </a:xfrm>
          <a:prstGeom prst="line">
            <a:avLst/>
          </a:prstGeom>
          <a:ln w="31750">
            <a:solidFill>
              <a:srgbClr val="005CAD"/>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12" name="TextBox 11"/>
          <p:cNvSpPr txBox="1"/>
          <p:nvPr/>
        </p:nvSpPr>
        <p:spPr>
          <a:xfrm>
            <a:off x="11064240" y="6592824"/>
            <a:ext cx="502920" cy="182880"/>
          </a:xfrm>
          <a:prstGeom prst="rect">
            <a:avLst/>
          </a:prstGeom>
          <a:noFill/>
        </p:spPr>
        <p:txBody>
          <a:bodyPr wrap="none">
            <a:spAutoFit/>
          </a:bodyPr>
          <a:lstStyle/>
          <a:p>
            <a:pPr algn="r"/>
            <a:r>
              <a:rPr sz="800">
                <a:solidFill>
                  <a:srgbClr val="FFFFFF"/>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End-to-end architecture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Microsoft 365 capture + AI knowledge engineering + GAIP consumption.</a:t>
            </a:r>
          </a:p>
        </p:txBody>
      </p:sp>
      <p:sp>
        <p:nvSpPr>
          <p:cNvPr id="5" name="Rounded Rectangle 4"/>
          <p:cNvSpPr/>
          <p:nvPr/>
        </p:nvSpPr>
        <p:spPr>
          <a:xfrm>
            <a:off x="502920" y="1325880"/>
            <a:ext cx="1572768" cy="64008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142A4A"/>
                </a:solidFill>
                <a:latin typeface="Aptos"/>
              </a:rPr>
              <a:t>Zoom
Requirements</a:t>
            </a:r>
          </a:p>
        </p:txBody>
      </p:sp>
      <p:cxnSp>
        <p:nvCxnSpPr>
          <p:cNvPr id="6" name="Connector 5"/>
          <p:cNvCxnSpPr/>
          <p:nvPr/>
        </p:nvCxnSpPr>
        <p:spPr>
          <a:xfrm>
            <a:off x="2075688" y="1645920"/>
            <a:ext cx="192024" cy="0"/>
          </a:xfrm>
          <a:prstGeom prst="line">
            <a:avLst/>
          </a:prstGeom>
          <a:ln w="16510">
            <a:solidFill>
              <a:srgbClr val="DCE3E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77439" y="1325880"/>
            <a:ext cx="1572768" cy="64008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142A4A"/>
                </a:solidFill>
                <a:latin typeface="Aptos"/>
              </a:rPr>
              <a:t>Zoom
Design Forum</a:t>
            </a:r>
          </a:p>
        </p:txBody>
      </p:sp>
      <p:cxnSp>
        <p:nvCxnSpPr>
          <p:cNvPr id="8" name="Connector 7"/>
          <p:cNvCxnSpPr/>
          <p:nvPr/>
        </p:nvCxnSpPr>
        <p:spPr>
          <a:xfrm>
            <a:off x="3950208" y="1645920"/>
            <a:ext cx="192023" cy="0"/>
          </a:xfrm>
          <a:prstGeom prst="line">
            <a:avLst/>
          </a:prstGeom>
          <a:ln w="16510">
            <a:solidFill>
              <a:srgbClr val="DCE3EB"/>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51959" y="1325880"/>
            <a:ext cx="1572768" cy="64008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142A4A"/>
                </a:solidFill>
                <a:latin typeface="Aptos"/>
              </a:rPr>
              <a:t>Zoom
Grooming</a:t>
            </a:r>
          </a:p>
        </p:txBody>
      </p:sp>
      <p:cxnSp>
        <p:nvCxnSpPr>
          <p:cNvPr id="10" name="Connector 9"/>
          <p:cNvCxnSpPr/>
          <p:nvPr/>
        </p:nvCxnSpPr>
        <p:spPr>
          <a:xfrm>
            <a:off x="5824727" y="1645920"/>
            <a:ext cx="192025" cy="0"/>
          </a:xfrm>
          <a:prstGeom prst="line">
            <a:avLst/>
          </a:prstGeom>
          <a:ln w="16510">
            <a:solidFill>
              <a:srgbClr val="DCE3E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26479" y="1325880"/>
            <a:ext cx="1572768" cy="64008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142A4A"/>
                </a:solidFill>
                <a:latin typeface="Aptos"/>
              </a:rPr>
              <a:t>Zoom
Testing/UAT</a:t>
            </a:r>
          </a:p>
        </p:txBody>
      </p:sp>
      <p:sp>
        <p:nvSpPr>
          <p:cNvPr id="12" name="Rounded Rectangle 11"/>
          <p:cNvSpPr/>
          <p:nvPr/>
        </p:nvSpPr>
        <p:spPr>
          <a:xfrm>
            <a:off x="4251960" y="2331720"/>
            <a:ext cx="3611880" cy="731520"/>
          </a:xfrm>
          <a:prstGeom prst="roundRect">
            <a:avLst/>
          </a:prstGeom>
          <a:solidFill>
            <a:srgbClr val="F4F7FA"/>
          </a:solidFill>
          <a:ln w="20320">
            <a:solidFill>
              <a:srgbClr val="00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SharePoint Document Library
+ Microsoft Stream / VTT</a:t>
            </a:r>
          </a:p>
        </p:txBody>
      </p:sp>
      <p:cxnSp>
        <p:nvCxnSpPr>
          <p:cNvPr id="13" name="Connector 12"/>
          <p:cNvCxnSpPr/>
          <p:nvPr/>
        </p:nvCxnSpPr>
        <p:spPr>
          <a:xfrm>
            <a:off x="6126480" y="1965960"/>
            <a:ext cx="0" cy="320040"/>
          </a:xfrm>
          <a:prstGeom prst="line">
            <a:avLst/>
          </a:prstGeom>
          <a:ln w="25400">
            <a:solidFill>
              <a:srgbClr val="0099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51960" y="3383280"/>
            <a:ext cx="3611880" cy="77724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A4A"/>
                </a:solidFill>
                <a:latin typeface="Aptos"/>
              </a:rPr>
              <a:t>AGENT 1
Transcript Normalizer</a:t>
            </a:r>
          </a:p>
        </p:txBody>
      </p:sp>
      <p:cxnSp>
        <p:nvCxnSpPr>
          <p:cNvPr id="15" name="Connector 14"/>
          <p:cNvCxnSpPr/>
          <p:nvPr/>
        </p:nvCxnSpPr>
        <p:spPr>
          <a:xfrm>
            <a:off x="6126480" y="3108960"/>
            <a:ext cx="0" cy="228600"/>
          </a:xfrm>
          <a:prstGeom prst="line">
            <a:avLst/>
          </a:prstGeom>
          <a:ln w="25400">
            <a:solidFill>
              <a:srgbClr val="007A7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51960" y="4526280"/>
            <a:ext cx="3611880" cy="777240"/>
          </a:xfrm>
          <a:prstGeom prst="roundRect">
            <a:avLst/>
          </a:prstGeom>
          <a:solidFill>
            <a:srgbClr val="F4F7FA"/>
          </a:solidFill>
          <a:ln w="20320">
            <a:solidFill>
              <a:srgbClr val="E69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HUMAN IN THE LOOP
Risk-based review</a:t>
            </a:r>
          </a:p>
        </p:txBody>
      </p:sp>
      <p:cxnSp>
        <p:nvCxnSpPr>
          <p:cNvPr id="17" name="Connector 16"/>
          <p:cNvCxnSpPr/>
          <p:nvPr/>
        </p:nvCxnSpPr>
        <p:spPr>
          <a:xfrm>
            <a:off x="6126480" y="4206240"/>
            <a:ext cx="0" cy="274320"/>
          </a:xfrm>
          <a:prstGeom prst="line">
            <a:avLst/>
          </a:prstGeom>
          <a:ln w="25400">
            <a:solidFill>
              <a:srgbClr val="E6962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51960" y="5577840"/>
            <a:ext cx="3611880" cy="77724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A4A"/>
                </a:solidFill>
                <a:latin typeface="Aptos"/>
              </a:rPr>
              <a:t>AGENT 2
Knowledge Structurer</a:t>
            </a:r>
          </a:p>
        </p:txBody>
      </p:sp>
      <p:sp>
        <p:nvSpPr>
          <p:cNvPr id="19" name="Rounded Rectangle 18"/>
          <p:cNvSpPr/>
          <p:nvPr/>
        </p:nvSpPr>
        <p:spPr>
          <a:xfrm>
            <a:off x="8595360" y="3063240"/>
            <a:ext cx="2560320" cy="73152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Knowledge Graph</a:t>
            </a:r>
          </a:p>
        </p:txBody>
      </p:sp>
      <p:sp>
        <p:nvSpPr>
          <p:cNvPr id="20" name="Rounded Rectangle 19"/>
          <p:cNvSpPr/>
          <p:nvPr/>
        </p:nvSpPr>
        <p:spPr>
          <a:xfrm>
            <a:off x="8595360" y="4160520"/>
            <a:ext cx="2560320" cy="73152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Golden Knowledge Source</a:t>
            </a:r>
          </a:p>
        </p:txBody>
      </p:sp>
      <p:sp>
        <p:nvSpPr>
          <p:cNvPr id="21" name="Rounded Rectangle 20"/>
          <p:cNvSpPr/>
          <p:nvPr/>
        </p:nvSpPr>
        <p:spPr>
          <a:xfrm>
            <a:off x="8595360" y="5257800"/>
            <a:ext cx="2560320" cy="73152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GAIP RAG Pipeline</a:t>
            </a:r>
          </a:p>
        </p:txBody>
      </p:sp>
      <p:cxnSp>
        <p:nvCxnSpPr>
          <p:cNvPr id="22" name="Connector 21"/>
          <p:cNvCxnSpPr/>
          <p:nvPr/>
        </p:nvCxnSpPr>
        <p:spPr>
          <a:xfrm flipV="1">
            <a:off x="7909560" y="3429000"/>
            <a:ext cx="640080" cy="2532888"/>
          </a:xfrm>
          <a:prstGeom prst="line">
            <a:avLst/>
          </a:prstGeom>
          <a:ln w="22860">
            <a:solidFill>
              <a:srgbClr val="634C9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875520" y="3822191"/>
            <a:ext cx="0" cy="292609"/>
          </a:xfrm>
          <a:prstGeom prst="line">
            <a:avLst/>
          </a:prstGeom>
          <a:ln w="22860">
            <a:solidFill>
              <a:srgbClr val="277D5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875520" y="4919472"/>
            <a:ext cx="0" cy="292608"/>
          </a:xfrm>
          <a:prstGeom prst="line">
            <a:avLst/>
          </a:prstGeom>
          <a:ln w="22860">
            <a:solidFill>
              <a:srgbClr val="005CAD"/>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7" name="TextBox 26"/>
          <p:cNvSpPr txBox="1"/>
          <p:nvPr/>
        </p:nvSpPr>
        <p:spPr>
          <a:xfrm>
            <a:off x="11064240" y="6592824"/>
            <a:ext cx="502920" cy="182880"/>
          </a:xfrm>
          <a:prstGeom prst="rect">
            <a:avLst/>
          </a:prstGeom>
          <a:noFill/>
        </p:spPr>
        <p:txBody>
          <a:bodyPr wrap="none">
            <a:spAutoFit/>
          </a:bodyPr>
          <a:lstStyle/>
          <a:p>
            <a:pPr algn="r"/>
            <a:r>
              <a:rPr sz="800">
                <a:solidFill>
                  <a:srgbClr val="FFFFFF"/>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Why use the existing Microsoft 365 / SharePoint foundation?</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Leverage an enterprise platform already used for content storage, permissions and governance.</a:t>
            </a:r>
          </a:p>
        </p:txBody>
      </p:sp>
      <p:sp>
        <p:nvSpPr>
          <p:cNvPr id="5" name="Rounded Rectangle 4"/>
          <p:cNvSpPr/>
          <p:nvPr/>
        </p:nvSpPr>
        <p:spPr>
          <a:xfrm>
            <a:off x="685800" y="132588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73152" cy="137160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63039"/>
            <a:ext cx="3081528" cy="347472"/>
          </a:xfrm>
          <a:prstGeom prst="rect">
            <a:avLst/>
          </a:prstGeom>
          <a:noFill/>
        </p:spPr>
        <p:txBody>
          <a:bodyPr wrap="none">
            <a:spAutoFit/>
          </a:bodyPr>
          <a:lstStyle/>
          <a:p>
            <a:r>
              <a:rPr sz="1500" b="1">
                <a:solidFill>
                  <a:srgbClr val="142A4A"/>
                </a:solidFill>
                <a:latin typeface="Aptos"/>
              </a:rPr>
              <a:t>Capture &amp; storage</a:t>
            </a:r>
          </a:p>
        </p:txBody>
      </p:sp>
      <p:sp>
        <p:nvSpPr>
          <p:cNvPr id="8" name="TextBox 7"/>
          <p:cNvSpPr txBox="1"/>
          <p:nvPr/>
        </p:nvSpPr>
        <p:spPr>
          <a:xfrm>
            <a:off x="886968" y="1856231"/>
            <a:ext cx="3063240" cy="731520"/>
          </a:xfrm>
          <a:prstGeom prst="rect">
            <a:avLst/>
          </a:prstGeom>
          <a:noFill/>
        </p:spPr>
        <p:txBody>
          <a:bodyPr wrap="square">
            <a:spAutoFit/>
          </a:bodyPr>
          <a:lstStyle/>
          <a:p>
            <a:pPr>
              <a:defRPr sz="1150">
                <a:solidFill>
                  <a:srgbClr val="232B34"/>
                </a:solidFill>
                <a:latin typeface="Aptos"/>
              </a:defRPr>
            </a:pPr>
            <a:r>
              <a:t>Zoom outputs and supporting documents can be associated with governed SharePoint libraries.</a:t>
            </a:r>
          </a:p>
        </p:txBody>
      </p:sp>
      <p:sp>
        <p:nvSpPr>
          <p:cNvPr id="9" name="Rounded Rectangle 8"/>
          <p:cNvSpPr/>
          <p:nvPr/>
        </p:nvSpPr>
        <p:spPr>
          <a:xfrm>
            <a:off x="4389120" y="132588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25880"/>
            <a:ext cx="73152" cy="13716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63039"/>
            <a:ext cx="3081528" cy="347472"/>
          </a:xfrm>
          <a:prstGeom prst="rect">
            <a:avLst/>
          </a:prstGeom>
          <a:noFill/>
        </p:spPr>
        <p:txBody>
          <a:bodyPr wrap="none">
            <a:spAutoFit/>
          </a:bodyPr>
          <a:lstStyle/>
          <a:p>
            <a:r>
              <a:rPr sz="1500" b="1">
                <a:solidFill>
                  <a:srgbClr val="142A4A"/>
                </a:solidFill>
                <a:latin typeface="Aptos"/>
              </a:rPr>
              <a:t>Metadata</a:t>
            </a:r>
          </a:p>
        </p:txBody>
      </p:sp>
      <p:sp>
        <p:nvSpPr>
          <p:cNvPr id="12" name="TextBox 11"/>
          <p:cNvSpPr txBox="1"/>
          <p:nvPr/>
        </p:nvSpPr>
        <p:spPr>
          <a:xfrm>
            <a:off x="4590288" y="1856231"/>
            <a:ext cx="3063240" cy="731520"/>
          </a:xfrm>
          <a:prstGeom prst="rect">
            <a:avLst/>
          </a:prstGeom>
          <a:noFill/>
        </p:spPr>
        <p:txBody>
          <a:bodyPr wrap="square">
            <a:spAutoFit/>
          </a:bodyPr>
          <a:lstStyle/>
          <a:p>
            <a:pPr>
              <a:defRPr sz="1150">
                <a:solidFill>
                  <a:srgbClr val="232B34"/>
                </a:solidFill>
                <a:latin typeface="Aptos"/>
              </a:defRPr>
            </a:pPr>
            <a:r>
              <a:t>Columns can hold product, region, process, owner, status, version and other controlled context.</a:t>
            </a:r>
          </a:p>
        </p:txBody>
      </p:sp>
      <p:sp>
        <p:nvSpPr>
          <p:cNvPr id="13" name="Rounded Rectangle 12"/>
          <p:cNvSpPr/>
          <p:nvPr/>
        </p:nvSpPr>
        <p:spPr>
          <a:xfrm>
            <a:off x="8092440" y="132588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325880"/>
            <a:ext cx="73152" cy="137160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1463039"/>
            <a:ext cx="3081528" cy="347472"/>
          </a:xfrm>
          <a:prstGeom prst="rect">
            <a:avLst/>
          </a:prstGeom>
          <a:noFill/>
        </p:spPr>
        <p:txBody>
          <a:bodyPr wrap="none">
            <a:spAutoFit/>
          </a:bodyPr>
          <a:lstStyle/>
          <a:p>
            <a:r>
              <a:rPr sz="1500" b="1">
                <a:solidFill>
                  <a:srgbClr val="142A4A"/>
                </a:solidFill>
                <a:latin typeface="Aptos"/>
              </a:rPr>
              <a:t>Permissions &amp; governance</a:t>
            </a:r>
          </a:p>
        </p:txBody>
      </p:sp>
      <p:sp>
        <p:nvSpPr>
          <p:cNvPr id="16" name="TextBox 15"/>
          <p:cNvSpPr txBox="1"/>
          <p:nvPr/>
        </p:nvSpPr>
        <p:spPr>
          <a:xfrm>
            <a:off x="8293608" y="1856231"/>
            <a:ext cx="3063240" cy="731520"/>
          </a:xfrm>
          <a:prstGeom prst="rect">
            <a:avLst/>
          </a:prstGeom>
          <a:noFill/>
        </p:spPr>
        <p:txBody>
          <a:bodyPr wrap="square">
            <a:spAutoFit/>
          </a:bodyPr>
          <a:lstStyle/>
          <a:p>
            <a:pPr>
              <a:defRPr sz="1150">
                <a:solidFill>
                  <a:srgbClr val="232B34"/>
                </a:solidFill>
                <a:latin typeface="Aptos"/>
              </a:defRPr>
            </a:pPr>
            <a:r>
              <a:t>Existing Microsoft 365 security and information-management patterns can remain part of the source layer.</a:t>
            </a:r>
          </a:p>
        </p:txBody>
      </p:sp>
      <p:sp>
        <p:nvSpPr>
          <p:cNvPr id="17" name="Rounded Rectangle 16"/>
          <p:cNvSpPr/>
          <p:nvPr/>
        </p:nvSpPr>
        <p:spPr>
          <a:xfrm>
            <a:off x="685800" y="306324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063240"/>
            <a:ext cx="73152" cy="137160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200400"/>
            <a:ext cx="3081528" cy="347472"/>
          </a:xfrm>
          <a:prstGeom prst="rect">
            <a:avLst/>
          </a:prstGeom>
          <a:noFill/>
        </p:spPr>
        <p:txBody>
          <a:bodyPr wrap="none">
            <a:spAutoFit/>
          </a:bodyPr>
          <a:lstStyle/>
          <a:p>
            <a:r>
              <a:rPr sz="1500" b="1">
                <a:solidFill>
                  <a:srgbClr val="142A4A"/>
                </a:solidFill>
                <a:latin typeface="Aptos"/>
              </a:rPr>
              <a:t>Stream / transcript</a:t>
            </a:r>
          </a:p>
        </p:txBody>
      </p:sp>
      <p:sp>
        <p:nvSpPr>
          <p:cNvPr id="20" name="TextBox 19"/>
          <p:cNvSpPr txBox="1"/>
          <p:nvPr/>
        </p:nvSpPr>
        <p:spPr>
          <a:xfrm>
            <a:off x="886968" y="3593592"/>
            <a:ext cx="3063240" cy="731520"/>
          </a:xfrm>
          <a:prstGeom prst="rect">
            <a:avLst/>
          </a:prstGeom>
          <a:noFill/>
        </p:spPr>
        <p:txBody>
          <a:bodyPr wrap="square">
            <a:spAutoFit/>
          </a:bodyPr>
          <a:lstStyle/>
          <a:p>
            <a:pPr>
              <a:defRPr sz="1150">
                <a:solidFill>
                  <a:srgbClr val="232B34"/>
                </a:solidFill>
                <a:latin typeface="Aptos"/>
              </a:defRPr>
            </a:pPr>
            <a:r>
              <a:t>Video can become a transcriptable knowledge source; VTT is the machine-readable starting point.</a:t>
            </a:r>
          </a:p>
        </p:txBody>
      </p:sp>
      <p:sp>
        <p:nvSpPr>
          <p:cNvPr id="21" name="Rounded Rectangle 20"/>
          <p:cNvSpPr/>
          <p:nvPr/>
        </p:nvSpPr>
        <p:spPr>
          <a:xfrm>
            <a:off x="4389120" y="306324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063240"/>
            <a:ext cx="73152" cy="137160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3200400"/>
            <a:ext cx="3081528" cy="347472"/>
          </a:xfrm>
          <a:prstGeom prst="rect">
            <a:avLst/>
          </a:prstGeom>
          <a:noFill/>
        </p:spPr>
        <p:txBody>
          <a:bodyPr wrap="none">
            <a:spAutoFit/>
          </a:bodyPr>
          <a:lstStyle/>
          <a:p>
            <a:r>
              <a:rPr sz="1500" b="1">
                <a:solidFill>
                  <a:srgbClr val="142A4A"/>
                </a:solidFill>
                <a:latin typeface="Aptos"/>
              </a:rPr>
              <a:t>Traceability</a:t>
            </a:r>
          </a:p>
        </p:txBody>
      </p:sp>
      <p:sp>
        <p:nvSpPr>
          <p:cNvPr id="24" name="TextBox 23"/>
          <p:cNvSpPr txBox="1"/>
          <p:nvPr/>
        </p:nvSpPr>
        <p:spPr>
          <a:xfrm>
            <a:off x="4590288" y="3593592"/>
            <a:ext cx="3063240" cy="731520"/>
          </a:xfrm>
          <a:prstGeom prst="rect">
            <a:avLst/>
          </a:prstGeom>
          <a:noFill/>
        </p:spPr>
        <p:txBody>
          <a:bodyPr wrap="square">
            <a:spAutoFit/>
          </a:bodyPr>
          <a:lstStyle/>
          <a:p>
            <a:pPr>
              <a:defRPr sz="1150">
                <a:solidFill>
                  <a:srgbClr val="232B34"/>
                </a:solidFill>
                <a:latin typeface="Aptos"/>
              </a:defRPr>
            </a:pPr>
            <a:r>
              <a:t>Retain source file, meeting, date and content lineage so downstream knowledge can be traced back.</a:t>
            </a:r>
          </a:p>
        </p:txBody>
      </p:sp>
      <p:sp>
        <p:nvSpPr>
          <p:cNvPr id="25" name="Rounded Rectangle 24"/>
          <p:cNvSpPr/>
          <p:nvPr/>
        </p:nvSpPr>
        <p:spPr>
          <a:xfrm>
            <a:off x="8092440" y="3063240"/>
            <a:ext cx="3429000" cy="13716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3063240"/>
            <a:ext cx="73152" cy="137160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3200400"/>
            <a:ext cx="3081528" cy="347472"/>
          </a:xfrm>
          <a:prstGeom prst="rect">
            <a:avLst/>
          </a:prstGeom>
          <a:noFill/>
        </p:spPr>
        <p:txBody>
          <a:bodyPr wrap="none">
            <a:spAutoFit/>
          </a:bodyPr>
          <a:lstStyle/>
          <a:p>
            <a:r>
              <a:rPr sz="1500" b="1">
                <a:solidFill>
                  <a:srgbClr val="142A4A"/>
                </a:solidFill>
                <a:latin typeface="Aptos"/>
              </a:rPr>
              <a:t>Avoid platform duplication</a:t>
            </a:r>
          </a:p>
        </p:txBody>
      </p:sp>
      <p:sp>
        <p:nvSpPr>
          <p:cNvPr id="28" name="TextBox 27"/>
          <p:cNvSpPr txBox="1"/>
          <p:nvPr/>
        </p:nvSpPr>
        <p:spPr>
          <a:xfrm>
            <a:off x="8293608" y="3593592"/>
            <a:ext cx="3063240" cy="731520"/>
          </a:xfrm>
          <a:prstGeom prst="rect">
            <a:avLst/>
          </a:prstGeom>
          <a:noFill/>
        </p:spPr>
        <p:txBody>
          <a:bodyPr wrap="square">
            <a:spAutoFit/>
          </a:bodyPr>
          <a:lstStyle/>
          <a:p>
            <a:pPr>
              <a:defRPr sz="1150">
                <a:solidFill>
                  <a:srgbClr val="232B34"/>
                </a:solidFill>
                <a:latin typeface="Aptos"/>
              </a:defRPr>
            </a:pPr>
            <a:r>
              <a:t>The proposed layer prepares knowledge for GAIP instead of replacing the bank’s existing content platform.</a:t>
            </a:r>
          </a:p>
        </p:txBody>
      </p:sp>
      <p:sp>
        <p:nvSpPr>
          <p:cNvPr id="29" name="Rounded Rectangle 28"/>
          <p:cNvSpPr/>
          <p:nvPr/>
        </p:nvSpPr>
        <p:spPr>
          <a:xfrm>
            <a:off x="4572000" y="4892040"/>
            <a:ext cx="2926080" cy="329184"/>
          </a:xfrm>
          <a:prstGeom prst="round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DESIGN PRINCIPLE</a:t>
            </a:r>
          </a:p>
        </p:txBody>
      </p:sp>
      <p:sp>
        <p:nvSpPr>
          <p:cNvPr id="30" name="TextBox 29"/>
          <p:cNvSpPr txBox="1"/>
          <p:nvPr/>
        </p:nvSpPr>
        <p:spPr>
          <a:xfrm>
            <a:off x="1005840" y="5349240"/>
            <a:ext cx="10149840" cy="822960"/>
          </a:xfrm>
          <a:prstGeom prst="rect">
            <a:avLst/>
          </a:prstGeom>
          <a:noFill/>
        </p:spPr>
        <p:txBody>
          <a:bodyPr wrap="none">
            <a:spAutoFit/>
          </a:bodyPr>
          <a:lstStyle/>
          <a:p>
            <a:pPr algn="ctr"/>
            <a:r>
              <a:rPr sz="1900" b="1">
                <a:solidFill>
                  <a:srgbClr val="142A4A"/>
                </a:solidFill>
              </a:rPr>
              <a:t>Use SharePoint as the governed source-of-truth layer; use agents to transform content into reusable knowledge.</a:t>
            </a:r>
          </a:p>
        </p:txBody>
      </p:sp>
      <p:sp>
        <p:nvSpPr>
          <p:cNvPr id="31" name="Rectangle 30"/>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3" name="TextBox 32"/>
          <p:cNvSpPr txBox="1"/>
          <p:nvPr/>
        </p:nvSpPr>
        <p:spPr>
          <a:xfrm>
            <a:off x="11064240" y="6592824"/>
            <a:ext cx="502920" cy="182880"/>
          </a:xfrm>
          <a:prstGeom prst="rect">
            <a:avLst/>
          </a:prstGeom>
          <a:noFill/>
        </p:spPr>
        <p:txBody>
          <a:bodyPr wrap="none">
            <a:spAutoFit/>
          </a:bodyPr>
          <a:lstStyle/>
          <a:p>
            <a:pPr algn="r"/>
            <a:r>
              <a:rPr sz="800">
                <a:solidFill>
                  <a:srgbClr val="FFFFFF"/>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1 — Transcript Normalizer</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Purpose: make machine-generated transcript readable and consistent without changing business meaning.</a:t>
            </a:r>
          </a:p>
        </p:txBody>
      </p:sp>
      <p:sp>
        <p:nvSpPr>
          <p:cNvPr id="5" name="Rounded Rectangle 4"/>
          <p:cNvSpPr/>
          <p:nvPr/>
        </p:nvSpPr>
        <p:spPr>
          <a:xfrm>
            <a:off x="640080" y="1417320"/>
            <a:ext cx="1920240" cy="2743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27432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554480"/>
            <a:ext cx="1572768" cy="347472"/>
          </a:xfrm>
          <a:prstGeom prst="rect">
            <a:avLst/>
          </a:prstGeom>
          <a:noFill/>
        </p:spPr>
        <p:txBody>
          <a:bodyPr wrap="none">
            <a:spAutoFit/>
          </a:bodyPr>
          <a:lstStyle/>
          <a:p>
            <a:r>
              <a:rPr sz="1350" b="1">
                <a:solidFill>
                  <a:srgbClr val="142A4A"/>
                </a:solidFill>
                <a:latin typeface="Aptos"/>
              </a:rPr>
              <a:t>1. Parse VTT</a:t>
            </a:r>
          </a:p>
        </p:txBody>
      </p:sp>
      <p:sp>
        <p:nvSpPr>
          <p:cNvPr id="8" name="TextBox 7"/>
          <p:cNvSpPr txBox="1"/>
          <p:nvPr/>
        </p:nvSpPr>
        <p:spPr>
          <a:xfrm>
            <a:off x="841247" y="1947672"/>
            <a:ext cx="1554480" cy="2103120"/>
          </a:xfrm>
          <a:prstGeom prst="rect">
            <a:avLst/>
          </a:prstGeom>
          <a:noFill/>
        </p:spPr>
        <p:txBody>
          <a:bodyPr wrap="square">
            <a:spAutoFit/>
          </a:bodyPr>
          <a:lstStyle/>
          <a:p>
            <a:pPr>
              <a:defRPr sz="1070">
                <a:solidFill>
                  <a:srgbClr val="232B34"/>
                </a:solidFill>
                <a:latin typeface="Aptos"/>
              </a:defRPr>
            </a:pPr>
            <a:r>
              <a:t>Remove timestamps, cue IDs and caption artefacts.</a:t>
            </a:r>
          </a:p>
        </p:txBody>
      </p:sp>
      <p:cxnSp>
        <p:nvCxnSpPr>
          <p:cNvPr id="9" name="Connector 8"/>
          <p:cNvCxnSpPr/>
          <p:nvPr/>
        </p:nvCxnSpPr>
        <p:spPr>
          <a:xfrm>
            <a:off x="2560320" y="2788920"/>
            <a:ext cx="256032" cy="0"/>
          </a:xfrm>
          <a:prstGeom prst="line">
            <a:avLst/>
          </a:prstGeom>
          <a:ln w="17780">
            <a:solidFill>
              <a:srgbClr val="DCE3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80360" y="1417320"/>
            <a:ext cx="1920240" cy="2743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1417320"/>
            <a:ext cx="73152" cy="27432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81528" y="1554480"/>
            <a:ext cx="1572768" cy="347472"/>
          </a:xfrm>
          <a:prstGeom prst="rect">
            <a:avLst/>
          </a:prstGeom>
          <a:noFill/>
        </p:spPr>
        <p:txBody>
          <a:bodyPr wrap="none">
            <a:spAutoFit/>
          </a:bodyPr>
          <a:lstStyle/>
          <a:p>
            <a:r>
              <a:rPr sz="1350" b="1">
                <a:solidFill>
                  <a:srgbClr val="142A4A"/>
                </a:solidFill>
                <a:latin typeface="Aptos"/>
              </a:rPr>
              <a:t>2. De-duplicate</a:t>
            </a:r>
          </a:p>
        </p:txBody>
      </p:sp>
      <p:sp>
        <p:nvSpPr>
          <p:cNvPr id="13" name="TextBox 12"/>
          <p:cNvSpPr txBox="1"/>
          <p:nvPr/>
        </p:nvSpPr>
        <p:spPr>
          <a:xfrm>
            <a:off x="3081528" y="1947672"/>
            <a:ext cx="1554480" cy="2103120"/>
          </a:xfrm>
          <a:prstGeom prst="rect">
            <a:avLst/>
          </a:prstGeom>
          <a:noFill/>
        </p:spPr>
        <p:txBody>
          <a:bodyPr wrap="square">
            <a:spAutoFit/>
          </a:bodyPr>
          <a:lstStyle/>
          <a:p>
            <a:pPr>
              <a:defRPr sz="1070">
                <a:solidFill>
                  <a:srgbClr val="232B34"/>
                </a:solidFill>
                <a:latin typeface="Aptos"/>
              </a:defRPr>
            </a:pPr>
            <a:r>
              <a:t>Collapse repeated captions and overlapping speech.</a:t>
            </a:r>
          </a:p>
        </p:txBody>
      </p:sp>
      <p:cxnSp>
        <p:nvCxnSpPr>
          <p:cNvPr id="14" name="Connector 13"/>
          <p:cNvCxnSpPr/>
          <p:nvPr/>
        </p:nvCxnSpPr>
        <p:spPr>
          <a:xfrm>
            <a:off x="4800600" y="2788920"/>
            <a:ext cx="256032" cy="0"/>
          </a:xfrm>
          <a:prstGeom prst="line">
            <a:avLst/>
          </a:prstGeom>
          <a:ln w="17780">
            <a:solidFill>
              <a:srgbClr val="DCE3E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20640" y="1417320"/>
            <a:ext cx="1920240" cy="2743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1417320"/>
            <a:ext cx="73152" cy="27432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1554480"/>
            <a:ext cx="1572768" cy="347472"/>
          </a:xfrm>
          <a:prstGeom prst="rect">
            <a:avLst/>
          </a:prstGeom>
          <a:noFill/>
        </p:spPr>
        <p:txBody>
          <a:bodyPr wrap="none">
            <a:spAutoFit/>
          </a:bodyPr>
          <a:lstStyle/>
          <a:p>
            <a:r>
              <a:rPr sz="1350" b="1">
                <a:solidFill>
                  <a:srgbClr val="142A4A"/>
                </a:solidFill>
                <a:latin typeface="Aptos"/>
              </a:rPr>
              <a:t>3. Normalize</a:t>
            </a:r>
          </a:p>
        </p:txBody>
      </p:sp>
      <p:sp>
        <p:nvSpPr>
          <p:cNvPr id="18" name="TextBox 17"/>
          <p:cNvSpPr txBox="1"/>
          <p:nvPr/>
        </p:nvSpPr>
        <p:spPr>
          <a:xfrm>
            <a:off x="5321808" y="1947672"/>
            <a:ext cx="1554480" cy="2103120"/>
          </a:xfrm>
          <a:prstGeom prst="rect">
            <a:avLst/>
          </a:prstGeom>
          <a:noFill/>
        </p:spPr>
        <p:txBody>
          <a:bodyPr wrap="square">
            <a:spAutoFit/>
          </a:bodyPr>
          <a:lstStyle/>
          <a:p>
            <a:pPr>
              <a:defRPr sz="1070">
                <a:solidFill>
                  <a:srgbClr val="232B34"/>
                </a:solidFill>
                <a:latin typeface="Aptos"/>
              </a:defRPr>
            </a:pPr>
            <a:r>
              <a:t>Fix sentence boundaries, punctuation and obvious speech noise.</a:t>
            </a:r>
          </a:p>
        </p:txBody>
      </p:sp>
      <p:cxnSp>
        <p:nvCxnSpPr>
          <p:cNvPr id="19" name="Connector 18"/>
          <p:cNvCxnSpPr/>
          <p:nvPr/>
        </p:nvCxnSpPr>
        <p:spPr>
          <a:xfrm>
            <a:off x="7040880" y="2788920"/>
            <a:ext cx="256032" cy="0"/>
          </a:xfrm>
          <a:prstGeom prst="line">
            <a:avLst/>
          </a:prstGeom>
          <a:ln w="17780">
            <a:solidFill>
              <a:srgbClr val="DCE3E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60920" y="1417320"/>
            <a:ext cx="1920240" cy="2743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1417320"/>
            <a:ext cx="73152" cy="27432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62088" y="1554480"/>
            <a:ext cx="1572768" cy="347472"/>
          </a:xfrm>
          <a:prstGeom prst="rect">
            <a:avLst/>
          </a:prstGeom>
          <a:noFill/>
        </p:spPr>
        <p:txBody>
          <a:bodyPr wrap="none">
            <a:spAutoFit/>
          </a:bodyPr>
          <a:lstStyle/>
          <a:p>
            <a:r>
              <a:rPr sz="1350" b="1">
                <a:solidFill>
                  <a:srgbClr val="142A4A"/>
                </a:solidFill>
                <a:latin typeface="Aptos"/>
              </a:rPr>
              <a:t>4. Preserve meaning</a:t>
            </a:r>
          </a:p>
        </p:txBody>
      </p:sp>
      <p:sp>
        <p:nvSpPr>
          <p:cNvPr id="23" name="TextBox 22"/>
          <p:cNvSpPr txBox="1"/>
          <p:nvPr/>
        </p:nvSpPr>
        <p:spPr>
          <a:xfrm>
            <a:off x="7562088" y="1947672"/>
            <a:ext cx="1554480" cy="2103120"/>
          </a:xfrm>
          <a:prstGeom prst="rect">
            <a:avLst/>
          </a:prstGeom>
          <a:noFill/>
        </p:spPr>
        <p:txBody>
          <a:bodyPr wrap="square">
            <a:spAutoFit/>
          </a:bodyPr>
          <a:lstStyle/>
          <a:p>
            <a:pPr>
              <a:defRPr sz="1070">
                <a:solidFill>
                  <a:srgbClr val="232B34"/>
                </a:solidFill>
                <a:latin typeface="Aptos"/>
              </a:defRPr>
            </a:pPr>
            <a:r>
              <a:t>Protect product names, numbers, conditions, negations and technical terms.</a:t>
            </a:r>
          </a:p>
        </p:txBody>
      </p:sp>
      <p:cxnSp>
        <p:nvCxnSpPr>
          <p:cNvPr id="24" name="Connector 23"/>
          <p:cNvCxnSpPr/>
          <p:nvPr/>
        </p:nvCxnSpPr>
        <p:spPr>
          <a:xfrm>
            <a:off x="9281160" y="2788920"/>
            <a:ext cx="256032" cy="0"/>
          </a:xfrm>
          <a:prstGeom prst="line">
            <a:avLst/>
          </a:prstGeom>
          <a:ln w="17780">
            <a:solidFill>
              <a:srgbClr val="DCE3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01200" y="1417320"/>
            <a:ext cx="1920240" cy="2743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200" y="1417320"/>
            <a:ext cx="73152" cy="274320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02368" y="1554480"/>
            <a:ext cx="1572768" cy="347472"/>
          </a:xfrm>
          <a:prstGeom prst="rect">
            <a:avLst/>
          </a:prstGeom>
          <a:noFill/>
        </p:spPr>
        <p:txBody>
          <a:bodyPr wrap="none">
            <a:spAutoFit/>
          </a:bodyPr>
          <a:lstStyle/>
          <a:p>
            <a:r>
              <a:rPr sz="1350" b="1">
                <a:solidFill>
                  <a:srgbClr val="142A4A"/>
                </a:solidFill>
                <a:latin typeface="Aptos"/>
              </a:rPr>
              <a:t>5. Produce audit trail</a:t>
            </a:r>
          </a:p>
        </p:txBody>
      </p:sp>
      <p:sp>
        <p:nvSpPr>
          <p:cNvPr id="28" name="TextBox 27"/>
          <p:cNvSpPr txBox="1"/>
          <p:nvPr/>
        </p:nvSpPr>
        <p:spPr>
          <a:xfrm>
            <a:off x="9802368" y="1947672"/>
            <a:ext cx="1554480" cy="2103120"/>
          </a:xfrm>
          <a:prstGeom prst="rect">
            <a:avLst/>
          </a:prstGeom>
          <a:noFill/>
        </p:spPr>
        <p:txBody>
          <a:bodyPr wrap="square">
            <a:spAutoFit/>
          </a:bodyPr>
          <a:lstStyle/>
          <a:p>
            <a:pPr>
              <a:defRPr sz="1070">
                <a:solidFill>
                  <a:srgbClr val="232B34"/>
                </a:solidFill>
                <a:latin typeface="Aptos"/>
              </a:defRPr>
            </a:pPr>
            <a:r>
              <a:t>Keep raw VTT reference + normalized output + agent version.</a:t>
            </a:r>
          </a:p>
        </p:txBody>
      </p:sp>
      <p:sp>
        <p:nvSpPr>
          <p:cNvPr id="29" name="Rounded Rectangle 28"/>
          <p:cNvSpPr/>
          <p:nvPr/>
        </p:nvSpPr>
        <p:spPr>
          <a:xfrm>
            <a:off x="4389120" y="4572000"/>
            <a:ext cx="3291840" cy="329184"/>
          </a:xfrm>
          <a:prstGeom prst="round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 RULE</a:t>
            </a:r>
          </a:p>
        </p:txBody>
      </p:sp>
      <p:sp>
        <p:nvSpPr>
          <p:cNvPr id="30" name="TextBox 29"/>
          <p:cNvSpPr txBox="1"/>
          <p:nvPr/>
        </p:nvSpPr>
        <p:spPr>
          <a:xfrm>
            <a:off x="1097280" y="5029200"/>
            <a:ext cx="9966960" cy="731520"/>
          </a:xfrm>
          <a:prstGeom prst="rect">
            <a:avLst/>
          </a:prstGeom>
          <a:noFill/>
        </p:spPr>
        <p:txBody>
          <a:bodyPr wrap="none">
            <a:spAutoFit/>
          </a:bodyPr>
          <a:lstStyle/>
          <a:p>
            <a:pPr algn="ctr"/>
            <a:r>
              <a:rPr sz="2000" b="1">
                <a:solidFill>
                  <a:srgbClr val="B43232"/>
                </a:solidFill>
              </a:rPr>
              <a:t>Normalize the language — do not normalize away the meaning.</a:t>
            </a:r>
          </a:p>
        </p:txBody>
      </p:sp>
      <p:sp>
        <p:nvSpPr>
          <p:cNvPr id="31" name="TextBox 30"/>
          <p:cNvSpPr txBox="1"/>
          <p:nvPr/>
        </p:nvSpPr>
        <p:spPr>
          <a:xfrm>
            <a:off x="1097280" y="5715000"/>
            <a:ext cx="9966960" cy="411480"/>
          </a:xfrm>
          <a:prstGeom prst="rect">
            <a:avLst/>
          </a:prstGeom>
          <a:noFill/>
        </p:spPr>
        <p:txBody>
          <a:bodyPr wrap="square">
            <a:spAutoFit/>
          </a:bodyPr>
          <a:lstStyle/>
          <a:p>
            <a:pPr>
              <a:spcAft>
                <a:spcPts val="700"/>
              </a:spcAft>
              <a:defRPr sz="1050">
                <a:solidFill>
                  <a:srgbClr val="232B34"/>
                </a:solidFill>
                <a:latin typeface="Aptos"/>
              </a:defRPr>
            </a:pPr>
            <a:r>
              <a:t>High-risk examples for review: product names, amounts, dates, SWIFT/technical identifiers, business rules, conditions, warnings and negations.</a:t>
            </a:r>
          </a:p>
        </p:txBody>
      </p:sp>
      <p:sp>
        <p:nvSpPr>
          <p:cNvPr id="32" name="Rectangle 31"/>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4" name="TextBox 33"/>
          <p:cNvSpPr txBox="1"/>
          <p:nvPr/>
        </p:nvSpPr>
        <p:spPr>
          <a:xfrm>
            <a:off x="11064240" y="6592824"/>
            <a:ext cx="502920" cy="182880"/>
          </a:xfrm>
          <a:prstGeom prst="rect">
            <a:avLst/>
          </a:prstGeom>
          <a:noFill/>
        </p:spPr>
        <p:txBody>
          <a:bodyPr wrap="none">
            <a:spAutoFit/>
          </a:bodyPr>
          <a:lstStyle/>
          <a:p>
            <a:pPr algn="r"/>
            <a:r>
              <a:rPr sz="800">
                <a:solidFill>
                  <a:srgbClr val="FFFFFF"/>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1 in practice — Trade Loan example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 normalizer improves readability while preserving the original decision logic.</a:t>
            </a:r>
          </a:p>
        </p:txBody>
      </p:sp>
      <p:sp>
        <p:nvSpPr>
          <p:cNvPr id="5" name="Rounded Rectangle 4"/>
          <p:cNvSpPr/>
          <p:nvPr/>
        </p:nvSpPr>
        <p:spPr>
          <a:xfrm>
            <a:off x="640080" y="1234440"/>
            <a:ext cx="5257800" cy="329184"/>
          </a:xfrm>
          <a:prstGeom prst="round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RAW TRANSCRIPT</a:t>
            </a:r>
          </a:p>
        </p:txBody>
      </p:sp>
      <p:sp>
        <p:nvSpPr>
          <p:cNvPr id="6" name="Rounded Rectangle 5"/>
          <p:cNvSpPr/>
          <p:nvPr/>
        </p:nvSpPr>
        <p:spPr>
          <a:xfrm>
            <a:off x="6263640" y="1234440"/>
            <a:ext cx="5257800" cy="329184"/>
          </a:xfrm>
          <a:prstGeom prst="round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NORMALIZED TRANSCRIPT</a:t>
            </a:r>
          </a:p>
        </p:txBody>
      </p:sp>
      <p:sp>
        <p:nvSpPr>
          <p:cNvPr id="7" name="Rounded Rectangle 6"/>
          <p:cNvSpPr/>
          <p:nvPr/>
        </p:nvSpPr>
        <p:spPr>
          <a:xfrm>
            <a:off x="640080" y="1691640"/>
            <a:ext cx="5257800" cy="31089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73152" cy="31089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828800"/>
            <a:ext cx="4910328" cy="347472"/>
          </a:xfrm>
          <a:prstGeom prst="rect">
            <a:avLst/>
          </a:prstGeom>
          <a:noFill/>
        </p:spPr>
        <p:txBody>
          <a:bodyPr wrap="none">
            <a:spAutoFit/>
          </a:bodyPr>
          <a:lstStyle/>
          <a:p>
            <a:r>
              <a:rPr sz="1400" b="1">
                <a:solidFill>
                  <a:srgbClr val="142A4A"/>
                </a:solidFill>
                <a:latin typeface="Aptos"/>
              </a:rPr>
              <a:t>Machine-generated conversation</a:t>
            </a:r>
          </a:p>
        </p:txBody>
      </p:sp>
      <p:sp>
        <p:nvSpPr>
          <p:cNvPr id="10" name="TextBox 9"/>
          <p:cNvSpPr txBox="1"/>
          <p:nvPr/>
        </p:nvSpPr>
        <p:spPr>
          <a:xfrm>
            <a:off x="841247" y="2221992"/>
            <a:ext cx="4892040" cy="2468880"/>
          </a:xfrm>
          <a:prstGeom prst="rect">
            <a:avLst/>
          </a:prstGeom>
          <a:noFill/>
        </p:spPr>
        <p:txBody>
          <a:bodyPr wrap="square">
            <a:spAutoFit/>
          </a:bodyPr>
          <a:lstStyle/>
          <a:p>
            <a:pPr>
              <a:defRPr sz="1300">
                <a:solidFill>
                  <a:srgbClr val="232B34"/>
                </a:solidFill>
                <a:latin typeface="Aptos"/>
              </a:defRPr>
            </a:pPr>
            <a:r>
              <a:t>“So basically what we do first is, um, the customer submits the documents and then we check the credit limit and if the credit limit is available then we do sanctions screening and if sanctions screening is successful then we approve the trade loan…”</a:t>
            </a:r>
          </a:p>
        </p:txBody>
      </p:sp>
      <p:sp>
        <p:nvSpPr>
          <p:cNvPr id="11" name="Rounded Rectangle 10"/>
          <p:cNvSpPr/>
          <p:nvPr/>
        </p:nvSpPr>
        <p:spPr>
          <a:xfrm>
            <a:off x="6263640" y="1691640"/>
            <a:ext cx="5257800" cy="31089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691640"/>
            <a:ext cx="73152" cy="31089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828800"/>
            <a:ext cx="4910328" cy="347472"/>
          </a:xfrm>
          <a:prstGeom prst="rect">
            <a:avLst/>
          </a:prstGeom>
          <a:noFill/>
        </p:spPr>
        <p:txBody>
          <a:bodyPr wrap="none">
            <a:spAutoFit/>
          </a:bodyPr>
          <a:lstStyle/>
          <a:p>
            <a:r>
              <a:rPr sz="1400" b="1">
                <a:solidFill>
                  <a:srgbClr val="142A4A"/>
                </a:solidFill>
                <a:latin typeface="Aptos"/>
              </a:rPr>
              <a:t>Agent 1 output</a:t>
            </a:r>
          </a:p>
        </p:txBody>
      </p:sp>
      <p:sp>
        <p:nvSpPr>
          <p:cNvPr id="14" name="TextBox 13"/>
          <p:cNvSpPr txBox="1"/>
          <p:nvPr/>
        </p:nvSpPr>
        <p:spPr>
          <a:xfrm>
            <a:off x="6464807" y="2221992"/>
            <a:ext cx="4892040" cy="2468880"/>
          </a:xfrm>
          <a:prstGeom prst="rect">
            <a:avLst/>
          </a:prstGeom>
          <a:noFill/>
        </p:spPr>
        <p:txBody>
          <a:bodyPr wrap="square">
            <a:spAutoFit/>
          </a:bodyPr>
          <a:lstStyle/>
          <a:p>
            <a:pPr>
              <a:defRPr sz="1300">
                <a:solidFill>
                  <a:srgbClr val="232B34"/>
                </a:solidFill>
                <a:latin typeface="Aptos"/>
              </a:defRPr>
            </a:pPr>
            <a:r>
              <a:t>“The customer submits the required documents. The credit limit is validated. If the credit limit is available, sanctions screening is performed. If sanctions screening is successful, the Trade Loan is approved.”</a:t>
            </a:r>
          </a:p>
        </p:txBody>
      </p:sp>
      <p:sp>
        <p:nvSpPr>
          <p:cNvPr id="15" name="Rounded Rectangle 14"/>
          <p:cNvSpPr/>
          <p:nvPr/>
        </p:nvSpPr>
        <p:spPr>
          <a:xfrm>
            <a:off x="3474720" y="5074920"/>
            <a:ext cx="5212080" cy="329184"/>
          </a:xfrm>
          <a:prstGeom prst="round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WHAT AGENT 1 MUST PRESERVE</a:t>
            </a:r>
          </a:p>
        </p:txBody>
      </p:sp>
      <p:sp>
        <p:nvSpPr>
          <p:cNvPr id="16" name="TextBox 15"/>
          <p:cNvSpPr txBox="1"/>
          <p:nvPr/>
        </p:nvSpPr>
        <p:spPr>
          <a:xfrm>
            <a:off x="1143000" y="5486400"/>
            <a:ext cx="9966960" cy="868680"/>
          </a:xfrm>
          <a:prstGeom prst="rect">
            <a:avLst/>
          </a:prstGeom>
          <a:noFill/>
        </p:spPr>
        <p:txBody>
          <a:bodyPr wrap="square">
            <a:spAutoFit/>
          </a:bodyPr>
          <a:lstStyle/>
          <a:p>
            <a:pPr>
              <a:spcAft>
                <a:spcPts val="700"/>
              </a:spcAft>
              <a:defRPr sz="1050">
                <a:solidFill>
                  <a:srgbClr val="232B34"/>
                </a:solidFill>
                <a:latin typeface="Aptos"/>
              </a:defRPr>
            </a:pPr>
            <a:r>
              <a:t>Sequence: documents → credit limit → sanctions screening → approval</a:t>
            </a:r>
          </a:p>
          <a:p>
            <a:pPr>
              <a:spcAft>
                <a:spcPts val="700"/>
              </a:spcAft>
              <a:defRPr sz="1050">
                <a:solidFill>
                  <a:srgbClr val="232B34"/>
                </a:solidFill>
                <a:latin typeface="Aptos"/>
              </a:defRPr>
            </a:pPr>
            <a:r>
              <a:t>Conditions: “if credit limit is available”; “if screening is successful”</a:t>
            </a:r>
          </a:p>
          <a:p>
            <a:pPr>
              <a:spcAft>
                <a:spcPts val="700"/>
              </a:spcAft>
              <a:defRPr sz="1050">
                <a:solidFill>
                  <a:srgbClr val="232B34"/>
                </a:solidFill>
                <a:latin typeface="Aptos"/>
              </a:defRPr>
            </a:pPr>
            <a:r>
              <a:t>Negative meaning: do not accidentally turn a failed screening into an approval</a:t>
            </a:r>
          </a:p>
          <a:p>
            <a:pPr>
              <a:spcAft>
                <a:spcPts val="700"/>
              </a:spcAft>
              <a:defRPr sz="1050">
                <a:solidFill>
                  <a:srgbClr val="232B34"/>
                </a:solidFill>
                <a:latin typeface="Aptos"/>
              </a:defRPr>
            </a:pPr>
            <a:r>
              <a:t>Business terminology: Trade Loan, credit limit, sanctions screening</a:t>
            </a:r>
          </a:p>
        </p:txBody>
      </p:sp>
      <p:sp>
        <p:nvSpPr>
          <p:cNvPr id="17" name="Rectangle 16"/>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19" name="TextBox 18"/>
          <p:cNvSpPr txBox="1"/>
          <p:nvPr/>
        </p:nvSpPr>
        <p:spPr>
          <a:xfrm>
            <a:off x="11064240" y="6592824"/>
            <a:ext cx="502920" cy="182880"/>
          </a:xfrm>
          <a:prstGeom prst="rect">
            <a:avLst/>
          </a:prstGeom>
          <a:noFill/>
        </p:spPr>
        <p:txBody>
          <a:bodyPr wrap="none">
            <a:spAutoFit/>
          </a:bodyPr>
          <a:lstStyle/>
          <a:p>
            <a:pPr algn="r"/>
            <a:r>
              <a:rPr sz="800">
                <a:solidFill>
                  <a:srgbClr val="FFFFFF"/>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Human-in-the-loop after Agent 1 and Agent 2</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Humans validate meaning and business intent; they do not manually rewrite every transcript.</a:t>
            </a:r>
          </a:p>
        </p:txBody>
      </p:sp>
      <p:sp>
        <p:nvSpPr>
          <p:cNvPr id="5" name="Rounded Rectangle 4"/>
          <p:cNvSpPr/>
          <p:nvPr/>
        </p:nvSpPr>
        <p:spPr>
          <a:xfrm>
            <a:off x="731520" y="2103120"/>
            <a:ext cx="1920240" cy="82296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A4A"/>
                </a:solidFill>
                <a:latin typeface="Aptos"/>
              </a:rPr>
              <a:t>Agent 1</a:t>
            </a:r>
          </a:p>
        </p:txBody>
      </p:sp>
      <p:cxnSp>
        <p:nvCxnSpPr>
          <p:cNvPr id="6" name="Connector 5"/>
          <p:cNvCxnSpPr/>
          <p:nvPr/>
        </p:nvCxnSpPr>
        <p:spPr>
          <a:xfrm>
            <a:off x="2651760" y="2514600"/>
            <a:ext cx="685800" cy="0"/>
          </a:xfrm>
          <a:prstGeom prst="line">
            <a:avLst/>
          </a:prstGeom>
          <a:ln w="25400">
            <a:solidFill>
              <a:srgbClr val="007A7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83280" y="2103120"/>
            <a:ext cx="2286000" cy="822960"/>
          </a:xfrm>
          <a:prstGeom prst="roundRect">
            <a:avLst/>
          </a:prstGeom>
          <a:solidFill>
            <a:srgbClr val="F4F7FA"/>
          </a:solidFill>
          <a:ln w="20320">
            <a:solidFill>
              <a:srgbClr val="E69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Risk / confidence check</a:t>
            </a:r>
          </a:p>
        </p:txBody>
      </p:sp>
      <p:cxnSp>
        <p:nvCxnSpPr>
          <p:cNvPr id="8" name="Connector 7"/>
          <p:cNvCxnSpPr/>
          <p:nvPr/>
        </p:nvCxnSpPr>
        <p:spPr>
          <a:xfrm>
            <a:off x="5669280" y="2514600"/>
            <a:ext cx="731520" cy="0"/>
          </a:xfrm>
          <a:prstGeom prst="line">
            <a:avLst/>
          </a:prstGeom>
          <a:ln w="25400">
            <a:solidFill>
              <a:srgbClr val="E6962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46520" y="1600200"/>
            <a:ext cx="1920240" cy="82296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42A4A"/>
                </a:solidFill>
                <a:latin typeface="Aptos"/>
              </a:rPr>
              <a:t>High confidence
→ Auto proceed</a:t>
            </a:r>
          </a:p>
        </p:txBody>
      </p:sp>
      <p:sp>
        <p:nvSpPr>
          <p:cNvPr id="10" name="Rounded Rectangle 9"/>
          <p:cNvSpPr/>
          <p:nvPr/>
        </p:nvSpPr>
        <p:spPr>
          <a:xfrm>
            <a:off x="6446520" y="2926080"/>
            <a:ext cx="1920240" cy="822960"/>
          </a:xfrm>
          <a:prstGeom prst="roundRect">
            <a:avLst/>
          </a:prstGeom>
          <a:solidFill>
            <a:srgbClr val="F4F7FA"/>
          </a:solidFill>
          <a:ln w="20320">
            <a:solidFill>
              <a:srgbClr val="B4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42A4A"/>
                </a:solidFill>
                <a:latin typeface="Aptos"/>
              </a:rPr>
              <a:t>High risk / ambiguity
→ Human review</a:t>
            </a:r>
          </a:p>
        </p:txBody>
      </p:sp>
      <p:cxnSp>
        <p:nvCxnSpPr>
          <p:cNvPr id="11" name="Connector 10"/>
          <p:cNvCxnSpPr/>
          <p:nvPr/>
        </p:nvCxnSpPr>
        <p:spPr>
          <a:xfrm>
            <a:off x="8366760" y="2011680"/>
            <a:ext cx="777240" cy="0"/>
          </a:xfrm>
          <a:prstGeom prst="line">
            <a:avLst/>
          </a:prstGeom>
          <a:ln w="21590">
            <a:solidFill>
              <a:srgbClr val="277D5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66760" y="3337560"/>
            <a:ext cx="777240" cy="0"/>
          </a:xfrm>
          <a:prstGeom prst="line">
            <a:avLst/>
          </a:prstGeom>
          <a:ln w="21590">
            <a:solidFill>
              <a:srgbClr val="B432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89720" y="2514600"/>
            <a:ext cx="1920240" cy="82296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A4A"/>
                </a:solidFill>
                <a:latin typeface="Aptos"/>
              </a:rPr>
              <a:t>Agent 2</a:t>
            </a:r>
          </a:p>
        </p:txBody>
      </p:sp>
      <p:sp>
        <p:nvSpPr>
          <p:cNvPr id="14" name="Rounded Rectangle 13"/>
          <p:cNvSpPr/>
          <p:nvPr/>
        </p:nvSpPr>
        <p:spPr>
          <a:xfrm>
            <a:off x="731520" y="4160520"/>
            <a:ext cx="3383280" cy="15087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160520"/>
            <a:ext cx="73152" cy="150876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97680"/>
            <a:ext cx="3035808" cy="347472"/>
          </a:xfrm>
          <a:prstGeom prst="rect">
            <a:avLst/>
          </a:prstGeom>
          <a:noFill/>
        </p:spPr>
        <p:txBody>
          <a:bodyPr wrap="none">
            <a:spAutoFit/>
          </a:bodyPr>
          <a:lstStyle/>
          <a:p>
            <a:r>
              <a:rPr sz="1400" b="1">
                <a:solidFill>
                  <a:srgbClr val="142A4A"/>
                </a:solidFill>
                <a:latin typeface="Aptos"/>
              </a:rPr>
              <a:t>Reviewer focus</a:t>
            </a:r>
          </a:p>
        </p:txBody>
      </p:sp>
      <p:sp>
        <p:nvSpPr>
          <p:cNvPr id="17" name="TextBox 16"/>
          <p:cNvSpPr txBox="1"/>
          <p:nvPr/>
        </p:nvSpPr>
        <p:spPr>
          <a:xfrm>
            <a:off x="932688" y="4690872"/>
            <a:ext cx="3017520" cy="868680"/>
          </a:xfrm>
          <a:prstGeom prst="rect">
            <a:avLst/>
          </a:prstGeom>
          <a:noFill/>
        </p:spPr>
        <p:txBody>
          <a:bodyPr wrap="square">
            <a:spAutoFit/>
          </a:bodyPr>
          <a:lstStyle/>
          <a:p>
            <a:pPr>
              <a:defRPr sz="1100">
                <a:solidFill>
                  <a:srgbClr val="232B34"/>
                </a:solidFill>
                <a:latin typeface="Aptos"/>
              </a:defRPr>
            </a:pPr>
            <a:r>
              <a:t>Numbers • terminology • rules • exceptions • conditions • decisions • sensitive content</a:t>
            </a:r>
          </a:p>
        </p:txBody>
      </p:sp>
      <p:sp>
        <p:nvSpPr>
          <p:cNvPr id="18" name="Rounded Rectangle 17"/>
          <p:cNvSpPr/>
          <p:nvPr/>
        </p:nvSpPr>
        <p:spPr>
          <a:xfrm>
            <a:off x="4389120" y="4160520"/>
            <a:ext cx="3383280" cy="15087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4160520"/>
            <a:ext cx="73152" cy="15087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0288" y="4297680"/>
            <a:ext cx="3035808" cy="347472"/>
          </a:xfrm>
          <a:prstGeom prst="rect">
            <a:avLst/>
          </a:prstGeom>
          <a:noFill/>
        </p:spPr>
        <p:txBody>
          <a:bodyPr wrap="none">
            <a:spAutoFit/>
          </a:bodyPr>
          <a:lstStyle/>
          <a:p>
            <a:r>
              <a:rPr sz="1400" b="1">
                <a:solidFill>
                  <a:srgbClr val="142A4A"/>
                </a:solidFill>
                <a:latin typeface="Aptos"/>
              </a:rPr>
              <a:t>Reviewer actions</a:t>
            </a:r>
          </a:p>
        </p:txBody>
      </p:sp>
      <p:sp>
        <p:nvSpPr>
          <p:cNvPr id="21" name="TextBox 20"/>
          <p:cNvSpPr txBox="1"/>
          <p:nvPr/>
        </p:nvSpPr>
        <p:spPr>
          <a:xfrm>
            <a:off x="4590288" y="4690872"/>
            <a:ext cx="3017520" cy="868680"/>
          </a:xfrm>
          <a:prstGeom prst="rect">
            <a:avLst/>
          </a:prstGeom>
          <a:noFill/>
        </p:spPr>
        <p:txBody>
          <a:bodyPr wrap="square">
            <a:spAutoFit/>
          </a:bodyPr>
          <a:lstStyle/>
          <a:p>
            <a:pPr>
              <a:defRPr sz="1100">
                <a:solidFill>
                  <a:srgbClr val="232B34"/>
                </a:solidFill>
                <a:latin typeface="Aptos"/>
              </a:defRPr>
            </a:pPr>
            <a:r>
              <a:t>Approve • correct • reject • flag ambiguity • confirm source context</a:t>
            </a:r>
          </a:p>
        </p:txBody>
      </p:sp>
      <p:sp>
        <p:nvSpPr>
          <p:cNvPr id="22" name="Rounded Rectangle 21"/>
          <p:cNvSpPr/>
          <p:nvPr/>
        </p:nvSpPr>
        <p:spPr>
          <a:xfrm>
            <a:off x="8046720" y="4160520"/>
            <a:ext cx="3383280" cy="15087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160520"/>
            <a:ext cx="73152" cy="150876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4297680"/>
            <a:ext cx="3035808" cy="347472"/>
          </a:xfrm>
          <a:prstGeom prst="rect">
            <a:avLst/>
          </a:prstGeom>
          <a:noFill/>
        </p:spPr>
        <p:txBody>
          <a:bodyPr wrap="none">
            <a:spAutoFit/>
          </a:bodyPr>
          <a:lstStyle/>
          <a:p>
            <a:r>
              <a:rPr sz="1400" b="1">
                <a:solidFill>
                  <a:srgbClr val="142A4A"/>
                </a:solidFill>
                <a:latin typeface="Aptos"/>
              </a:rPr>
              <a:t>Governance benefit</a:t>
            </a:r>
          </a:p>
        </p:txBody>
      </p:sp>
      <p:sp>
        <p:nvSpPr>
          <p:cNvPr id="25" name="TextBox 24"/>
          <p:cNvSpPr txBox="1"/>
          <p:nvPr/>
        </p:nvSpPr>
        <p:spPr>
          <a:xfrm>
            <a:off x="8247888" y="4690872"/>
            <a:ext cx="3017520" cy="868680"/>
          </a:xfrm>
          <a:prstGeom prst="rect">
            <a:avLst/>
          </a:prstGeom>
          <a:noFill/>
        </p:spPr>
        <p:txBody>
          <a:bodyPr wrap="square">
            <a:spAutoFit/>
          </a:bodyPr>
          <a:lstStyle/>
          <a:p>
            <a:pPr>
              <a:defRPr sz="1100">
                <a:solidFill>
                  <a:srgbClr val="232B34"/>
                </a:solidFill>
                <a:latin typeface="Aptos"/>
              </a:defRPr>
            </a:pPr>
            <a:r>
              <a:t>Human remains accountable for high-impact interpretation; AI handles scale.</a:t>
            </a:r>
          </a:p>
        </p:txBody>
      </p:sp>
      <p:sp>
        <p:nvSpPr>
          <p:cNvPr id="26" name="Rectangle 25"/>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8" name="TextBox 27"/>
          <p:cNvSpPr txBox="1"/>
          <p:nvPr/>
        </p:nvSpPr>
        <p:spPr>
          <a:xfrm>
            <a:off x="11064240" y="6592824"/>
            <a:ext cx="502920" cy="182880"/>
          </a:xfrm>
          <a:prstGeom prst="rect">
            <a:avLst/>
          </a:prstGeom>
          <a:noFill/>
        </p:spPr>
        <p:txBody>
          <a:bodyPr wrap="none">
            <a:spAutoFit/>
          </a:bodyPr>
          <a:lstStyle/>
          <a:p>
            <a:pPr algn="r"/>
            <a:r>
              <a:rPr sz="800">
                <a:solidFill>
                  <a:srgbClr val="FFFFFF"/>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2 — Knowledge Structuring Agent</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Purpose: convert normalized conversation into explicit, reusable business and technical knowledge units.</a:t>
            </a:r>
          </a:p>
        </p:txBody>
      </p:sp>
      <p:sp>
        <p:nvSpPr>
          <p:cNvPr id="5" name="Rounded Rectangle 4"/>
          <p:cNvSpPr/>
          <p:nvPr/>
        </p:nvSpPr>
        <p:spPr>
          <a:xfrm>
            <a:off x="640080" y="1325880"/>
            <a:ext cx="342900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448056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63039"/>
            <a:ext cx="3081528" cy="347472"/>
          </a:xfrm>
          <a:prstGeom prst="rect">
            <a:avLst/>
          </a:prstGeom>
          <a:noFill/>
        </p:spPr>
        <p:txBody>
          <a:bodyPr wrap="none">
            <a:spAutoFit/>
          </a:bodyPr>
          <a:lstStyle/>
          <a:p>
            <a:r>
              <a:rPr sz="1600" b="1">
                <a:solidFill>
                  <a:srgbClr val="142A4A"/>
                </a:solidFill>
                <a:latin typeface="Aptos"/>
              </a:rPr>
              <a:t>What it identifies</a:t>
            </a:r>
          </a:p>
        </p:txBody>
      </p:sp>
      <p:sp>
        <p:nvSpPr>
          <p:cNvPr id="8" name="TextBox 7"/>
          <p:cNvSpPr txBox="1"/>
          <p:nvPr/>
        </p:nvSpPr>
        <p:spPr>
          <a:xfrm>
            <a:off x="841247" y="1856231"/>
            <a:ext cx="3063240" cy="3840480"/>
          </a:xfrm>
          <a:prstGeom prst="rect">
            <a:avLst/>
          </a:prstGeom>
          <a:noFill/>
        </p:spPr>
        <p:txBody>
          <a:bodyPr wrap="square">
            <a:spAutoFit/>
          </a:bodyPr>
          <a:lstStyle/>
          <a:p>
            <a:pPr>
              <a:defRPr sz="1250">
                <a:solidFill>
                  <a:srgbClr val="232B34"/>
                </a:solidFill>
                <a:latin typeface="Aptos"/>
              </a:defRPr>
            </a:pPr>
            <a:r>
              <a:t>• Requirements</a:t>
            </a:r>
            <a:br/>
            <a:r>
              <a:t>• Business rules</a:t>
            </a:r>
            <a:br/>
            <a:r>
              <a:t>• Procedures</a:t>
            </a:r>
            <a:br/>
            <a:r>
              <a:t>• Conditions</a:t>
            </a:r>
            <a:br/>
            <a:r>
              <a:t>• Exceptions</a:t>
            </a:r>
            <a:br/>
            <a:r>
              <a:t>• Decisions</a:t>
            </a:r>
            <a:br/>
            <a:r>
              <a:t>• Assumptions</a:t>
            </a:r>
            <a:br/>
            <a:r>
              <a:t>• Dependencies</a:t>
            </a:r>
            <a:br/>
            <a:r>
              <a:t>• Open questions</a:t>
            </a:r>
            <a:br/>
            <a:r>
              <a:t>• Acceptance criteria</a:t>
            </a:r>
            <a:br/>
            <a:r>
              <a:t>• Definitions</a:t>
            </a:r>
            <a:br/>
            <a:r>
              <a:t>• Examples</a:t>
            </a:r>
            <a:br/>
            <a:br/>
            <a:r>
              <a:t>Agent 2 structures; it does not invent.</a:t>
            </a:r>
          </a:p>
        </p:txBody>
      </p:sp>
      <p:sp>
        <p:nvSpPr>
          <p:cNvPr id="9" name="Rounded Rectangle 8"/>
          <p:cNvSpPr/>
          <p:nvPr/>
        </p:nvSpPr>
        <p:spPr>
          <a:xfrm>
            <a:off x="4389120" y="1325880"/>
            <a:ext cx="342900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25880"/>
            <a:ext cx="73152" cy="44805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63039"/>
            <a:ext cx="3081528" cy="347472"/>
          </a:xfrm>
          <a:prstGeom prst="rect">
            <a:avLst/>
          </a:prstGeom>
          <a:noFill/>
        </p:spPr>
        <p:txBody>
          <a:bodyPr wrap="none">
            <a:spAutoFit/>
          </a:bodyPr>
          <a:lstStyle/>
          <a:p>
            <a:r>
              <a:rPr sz="1600" b="1">
                <a:solidFill>
                  <a:srgbClr val="142A4A"/>
                </a:solidFill>
                <a:latin typeface="Aptos"/>
              </a:rPr>
              <a:t>Why it matters</a:t>
            </a:r>
          </a:p>
        </p:txBody>
      </p:sp>
      <p:sp>
        <p:nvSpPr>
          <p:cNvPr id="12" name="TextBox 11"/>
          <p:cNvSpPr txBox="1"/>
          <p:nvPr/>
        </p:nvSpPr>
        <p:spPr>
          <a:xfrm>
            <a:off x="4590288" y="1856231"/>
            <a:ext cx="3063240" cy="3840480"/>
          </a:xfrm>
          <a:prstGeom prst="rect">
            <a:avLst/>
          </a:prstGeom>
          <a:noFill/>
        </p:spPr>
        <p:txBody>
          <a:bodyPr wrap="square">
            <a:spAutoFit/>
          </a:bodyPr>
          <a:lstStyle/>
          <a:p>
            <a:pPr>
              <a:defRPr sz="1250">
                <a:solidFill>
                  <a:srgbClr val="232B34"/>
                </a:solidFill>
                <a:latin typeface="Aptos"/>
              </a:defRPr>
            </a:pPr>
            <a:r>
              <a:t>A clean transcript is still a conversation.</a:t>
            </a:r>
            <a:br/>
            <a:br/>
            <a:r>
              <a:t>Agent 2 makes knowledge boundaries explicit so downstream systems can retrieve, reuse and trace specific decisions instead of entire meeting narratives.</a:t>
            </a:r>
          </a:p>
        </p:txBody>
      </p:sp>
      <p:sp>
        <p:nvSpPr>
          <p:cNvPr id="13" name="Rounded Rectangle 12"/>
          <p:cNvSpPr/>
          <p:nvPr/>
        </p:nvSpPr>
        <p:spPr>
          <a:xfrm>
            <a:off x="8138160" y="1325880"/>
            <a:ext cx="3429000" cy="44805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325880"/>
            <a:ext cx="73152" cy="448056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463039"/>
            <a:ext cx="3081528" cy="347472"/>
          </a:xfrm>
          <a:prstGeom prst="rect">
            <a:avLst/>
          </a:prstGeom>
          <a:noFill/>
        </p:spPr>
        <p:txBody>
          <a:bodyPr wrap="none">
            <a:spAutoFit/>
          </a:bodyPr>
          <a:lstStyle/>
          <a:p>
            <a:r>
              <a:rPr sz="1600" b="1">
                <a:solidFill>
                  <a:srgbClr val="142A4A"/>
                </a:solidFill>
                <a:latin typeface="Aptos"/>
              </a:rPr>
              <a:t>Different modes</a:t>
            </a:r>
          </a:p>
        </p:txBody>
      </p:sp>
      <p:sp>
        <p:nvSpPr>
          <p:cNvPr id="16" name="TextBox 15"/>
          <p:cNvSpPr txBox="1"/>
          <p:nvPr/>
        </p:nvSpPr>
        <p:spPr>
          <a:xfrm>
            <a:off x="8339328" y="1856231"/>
            <a:ext cx="3063240" cy="3840480"/>
          </a:xfrm>
          <a:prstGeom prst="rect">
            <a:avLst/>
          </a:prstGeom>
          <a:noFill/>
        </p:spPr>
        <p:txBody>
          <a:bodyPr wrap="square">
            <a:spAutoFit/>
          </a:bodyPr>
          <a:lstStyle/>
          <a:p>
            <a:pPr>
              <a:defRPr sz="1250">
                <a:solidFill>
                  <a:srgbClr val="232B34"/>
                </a:solidFill>
                <a:latin typeface="Aptos"/>
              </a:defRPr>
            </a:pPr>
            <a:r>
              <a:t>Requirements → FR/NFR/AC</a:t>
            </a:r>
            <a:br/>
            <a:r>
              <a:t>Design → decisions/components/APIs</a:t>
            </a:r>
            <a:br/>
            <a:r>
              <a:t>Grooming → stories/tasks/AC</a:t>
            </a:r>
            <a:br/>
            <a:r>
              <a:t>Testing → scenarios/expected behaviour</a:t>
            </a:r>
            <a:br/>
            <a:r>
              <a:t>PIR → root cause/actions/lessons learned</a:t>
            </a:r>
          </a:p>
        </p:txBody>
      </p:sp>
      <p:sp>
        <p:nvSpPr>
          <p:cNvPr id="17" name="Rectangle 16"/>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19" name="TextBox 18"/>
          <p:cNvSpPr txBox="1"/>
          <p:nvPr/>
        </p:nvSpPr>
        <p:spPr>
          <a:xfrm>
            <a:off x="11064240" y="6592824"/>
            <a:ext cx="502920" cy="182880"/>
          </a:xfrm>
          <a:prstGeom prst="rect">
            <a:avLst/>
          </a:prstGeom>
          <a:noFill/>
        </p:spPr>
        <p:txBody>
          <a:bodyPr wrap="none">
            <a:spAutoFit/>
          </a:bodyPr>
          <a:lstStyle/>
          <a:p>
            <a:pPr algn="r"/>
            <a:r>
              <a:rPr sz="800">
                <a:solidFill>
                  <a:srgbClr val="FFFFFF"/>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2 in practice — Trade Loan process</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From clean narrative to structured business knowledge.</a:t>
            </a:r>
          </a:p>
        </p:txBody>
      </p:sp>
      <p:sp>
        <p:nvSpPr>
          <p:cNvPr id="5" name="Rounded Rectangle 4"/>
          <p:cNvSpPr/>
          <p:nvPr/>
        </p:nvSpPr>
        <p:spPr>
          <a:xfrm>
            <a:off x="640080" y="1234440"/>
            <a:ext cx="3657600" cy="329184"/>
          </a:xfrm>
          <a:prstGeom prst="round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NORMALIZED NARRATIVE</a:t>
            </a:r>
          </a:p>
        </p:txBody>
      </p:sp>
      <p:sp>
        <p:nvSpPr>
          <p:cNvPr id="6" name="Rounded Rectangle 5"/>
          <p:cNvSpPr/>
          <p:nvPr/>
        </p:nvSpPr>
        <p:spPr>
          <a:xfrm>
            <a:off x="640080" y="1691640"/>
            <a:ext cx="3657600" cy="39319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393192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28800"/>
            <a:ext cx="3310128" cy="347472"/>
          </a:xfrm>
          <a:prstGeom prst="rect">
            <a:avLst/>
          </a:prstGeom>
          <a:noFill/>
        </p:spPr>
        <p:txBody>
          <a:bodyPr wrap="none">
            <a:spAutoFit/>
          </a:bodyPr>
          <a:lstStyle/>
          <a:p>
            <a:r>
              <a:rPr sz="1400" b="1">
                <a:solidFill>
                  <a:srgbClr val="142A4A"/>
                </a:solidFill>
                <a:latin typeface="Aptos"/>
              </a:rPr>
              <a:t>Input</a:t>
            </a:r>
          </a:p>
        </p:txBody>
      </p:sp>
      <p:sp>
        <p:nvSpPr>
          <p:cNvPr id="9" name="TextBox 8"/>
          <p:cNvSpPr txBox="1"/>
          <p:nvPr/>
        </p:nvSpPr>
        <p:spPr>
          <a:xfrm>
            <a:off x="841247" y="2221992"/>
            <a:ext cx="3291840" cy="3291839"/>
          </a:xfrm>
          <a:prstGeom prst="rect">
            <a:avLst/>
          </a:prstGeom>
          <a:noFill/>
        </p:spPr>
        <p:txBody>
          <a:bodyPr wrap="square">
            <a:spAutoFit/>
          </a:bodyPr>
          <a:lstStyle/>
          <a:p>
            <a:pPr>
              <a:defRPr sz="1300">
                <a:solidFill>
                  <a:srgbClr val="232B34"/>
                </a:solidFill>
                <a:latin typeface="Aptos"/>
              </a:defRPr>
            </a:pPr>
            <a:r>
              <a:t>The customer submits the required documents. The credit limit is validated. If the credit limit is available, sanctions screening is performed. If sanctions screening is successful, the Trade Loan is approved.</a:t>
            </a:r>
          </a:p>
        </p:txBody>
      </p:sp>
      <p:sp>
        <p:nvSpPr>
          <p:cNvPr id="10" name="Rounded Rectangle 9"/>
          <p:cNvSpPr/>
          <p:nvPr/>
        </p:nvSpPr>
        <p:spPr>
          <a:xfrm>
            <a:off x="4617720" y="1234440"/>
            <a:ext cx="6903720" cy="329184"/>
          </a:xfrm>
          <a:prstGeom prst="round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STRUCTURED KNOWLEDGE</a:t>
            </a:r>
          </a:p>
        </p:txBody>
      </p:sp>
      <p:sp>
        <p:nvSpPr>
          <p:cNvPr id="11" name="Rounded Rectangle 10"/>
          <p:cNvSpPr/>
          <p:nvPr/>
        </p:nvSpPr>
        <p:spPr>
          <a:xfrm>
            <a:off x="4617720" y="1664208"/>
            <a:ext cx="6903720" cy="89611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1664208"/>
            <a:ext cx="73152" cy="896112"/>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1801368"/>
            <a:ext cx="6556248" cy="347472"/>
          </a:xfrm>
          <a:prstGeom prst="rect">
            <a:avLst/>
          </a:prstGeom>
          <a:noFill/>
        </p:spPr>
        <p:txBody>
          <a:bodyPr wrap="none">
            <a:spAutoFit/>
          </a:bodyPr>
          <a:lstStyle/>
          <a:p>
            <a:r>
              <a:rPr sz="1250" b="1">
                <a:solidFill>
                  <a:srgbClr val="142A4A"/>
                </a:solidFill>
                <a:latin typeface="Aptos"/>
              </a:rPr>
              <a:t>Procedure</a:t>
            </a:r>
          </a:p>
        </p:txBody>
      </p:sp>
      <p:sp>
        <p:nvSpPr>
          <p:cNvPr id="14" name="TextBox 13"/>
          <p:cNvSpPr txBox="1"/>
          <p:nvPr/>
        </p:nvSpPr>
        <p:spPr>
          <a:xfrm>
            <a:off x="4818888" y="2194560"/>
            <a:ext cx="6537959" cy="256032"/>
          </a:xfrm>
          <a:prstGeom prst="rect">
            <a:avLst/>
          </a:prstGeom>
          <a:noFill/>
        </p:spPr>
        <p:txBody>
          <a:bodyPr wrap="square">
            <a:spAutoFit/>
          </a:bodyPr>
          <a:lstStyle/>
          <a:p>
            <a:pPr>
              <a:defRPr sz="1050">
                <a:solidFill>
                  <a:srgbClr val="232B34"/>
                </a:solidFill>
                <a:latin typeface="Aptos"/>
              </a:defRPr>
            </a:pPr>
            <a:r>
              <a:t>1. Submit documents</a:t>
            </a:r>
            <a:br/>
            <a:r>
              <a:t>2. Validate credit limit</a:t>
            </a:r>
            <a:br/>
            <a:r>
              <a:t>3. Perform sanctions screening</a:t>
            </a:r>
            <a:br/>
            <a:r>
              <a:t>4. Approve after successful screening</a:t>
            </a:r>
          </a:p>
        </p:txBody>
      </p:sp>
      <p:sp>
        <p:nvSpPr>
          <p:cNvPr id="15" name="Rounded Rectangle 14"/>
          <p:cNvSpPr/>
          <p:nvPr/>
        </p:nvSpPr>
        <p:spPr>
          <a:xfrm>
            <a:off x="4617720" y="2743200"/>
            <a:ext cx="6903720" cy="89611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7720" y="2743200"/>
            <a:ext cx="73152" cy="896112"/>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18888" y="2880360"/>
            <a:ext cx="6556248" cy="347472"/>
          </a:xfrm>
          <a:prstGeom prst="rect">
            <a:avLst/>
          </a:prstGeom>
          <a:noFill/>
        </p:spPr>
        <p:txBody>
          <a:bodyPr wrap="none">
            <a:spAutoFit/>
          </a:bodyPr>
          <a:lstStyle/>
          <a:p>
            <a:r>
              <a:rPr sz="1250" b="1">
                <a:solidFill>
                  <a:srgbClr val="142A4A"/>
                </a:solidFill>
                <a:latin typeface="Aptos"/>
              </a:rPr>
              <a:t>Business rules</a:t>
            </a:r>
          </a:p>
        </p:txBody>
      </p:sp>
      <p:sp>
        <p:nvSpPr>
          <p:cNvPr id="18" name="TextBox 17"/>
          <p:cNvSpPr txBox="1"/>
          <p:nvPr/>
        </p:nvSpPr>
        <p:spPr>
          <a:xfrm>
            <a:off x="4818888" y="3273552"/>
            <a:ext cx="6537959" cy="256032"/>
          </a:xfrm>
          <a:prstGeom prst="rect">
            <a:avLst/>
          </a:prstGeom>
          <a:noFill/>
        </p:spPr>
        <p:txBody>
          <a:bodyPr wrap="square">
            <a:spAutoFit/>
          </a:bodyPr>
          <a:lstStyle/>
          <a:p>
            <a:pPr>
              <a:defRPr sz="1050">
                <a:solidFill>
                  <a:srgbClr val="232B34"/>
                </a:solidFill>
                <a:latin typeface="Aptos"/>
              </a:defRPr>
            </a:pPr>
            <a:r>
              <a:t>Credit limit must be available before approval.</a:t>
            </a:r>
            <a:br/>
            <a:r>
              <a:t>Sanctions screening must succeed before approval.</a:t>
            </a:r>
          </a:p>
        </p:txBody>
      </p:sp>
      <p:sp>
        <p:nvSpPr>
          <p:cNvPr id="19" name="Rounded Rectangle 18"/>
          <p:cNvSpPr/>
          <p:nvPr/>
        </p:nvSpPr>
        <p:spPr>
          <a:xfrm>
            <a:off x="4617720" y="3822191"/>
            <a:ext cx="6903720" cy="89611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17720" y="3822191"/>
            <a:ext cx="73152" cy="896112"/>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18888" y="3959352"/>
            <a:ext cx="6556248" cy="347472"/>
          </a:xfrm>
          <a:prstGeom prst="rect">
            <a:avLst/>
          </a:prstGeom>
          <a:noFill/>
        </p:spPr>
        <p:txBody>
          <a:bodyPr wrap="none">
            <a:spAutoFit/>
          </a:bodyPr>
          <a:lstStyle/>
          <a:p>
            <a:r>
              <a:rPr sz="1250" b="1">
                <a:solidFill>
                  <a:srgbClr val="142A4A"/>
                </a:solidFill>
                <a:latin typeface="Aptos"/>
              </a:rPr>
              <a:t>Conditions / exceptions</a:t>
            </a:r>
          </a:p>
        </p:txBody>
      </p:sp>
      <p:sp>
        <p:nvSpPr>
          <p:cNvPr id="22" name="TextBox 21"/>
          <p:cNvSpPr txBox="1"/>
          <p:nvPr/>
        </p:nvSpPr>
        <p:spPr>
          <a:xfrm>
            <a:off x="4818888" y="4352544"/>
            <a:ext cx="6537959" cy="256032"/>
          </a:xfrm>
          <a:prstGeom prst="rect">
            <a:avLst/>
          </a:prstGeom>
          <a:noFill/>
        </p:spPr>
        <p:txBody>
          <a:bodyPr wrap="square">
            <a:spAutoFit/>
          </a:bodyPr>
          <a:lstStyle/>
          <a:p>
            <a:pPr>
              <a:defRPr sz="1050">
                <a:solidFill>
                  <a:srgbClr val="232B34"/>
                </a:solidFill>
                <a:latin typeface="Aptos"/>
              </a:defRPr>
            </a:pPr>
            <a:r>
              <a:t>Credit limit unavailable → stop approval.</a:t>
            </a:r>
            <a:br/>
            <a:r>
              <a:t>Screening failure → do not approve.</a:t>
            </a:r>
          </a:p>
        </p:txBody>
      </p:sp>
      <p:sp>
        <p:nvSpPr>
          <p:cNvPr id="23" name="Rounded Rectangle 22"/>
          <p:cNvSpPr/>
          <p:nvPr/>
        </p:nvSpPr>
        <p:spPr>
          <a:xfrm>
            <a:off x="4617720" y="4901184"/>
            <a:ext cx="6903720" cy="89611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17720" y="4901184"/>
            <a:ext cx="73152" cy="896112"/>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18888" y="5038344"/>
            <a:ext cx="6556248" cy="347472"/>
          </a:xfrm>
          <a:prstGeom prst="rect">
            <a:avLst/>
          </a:prstGeom>
          <a:noFill/>
        </p:spPr>
        <p:txBody>
          <a:bodyPr wrap="none">
            <a:spAutoFit/>
          </a:bodyPr>
          <a:lstStyle/>
          <a:p>
            <a:r>
              <a:rPr sz="1250" b="1">
                <a:solidFill>
                  <a:srgbClr val="142A4A"/>
                </a:solidFill>
                <a:latin typeface="Aptos"/>
              </a:rPr>
              <a:t>Knowledge type</a:t>
            </a:r>
          </a:p>
        </p:txBody>
      </p:sp>
      <p:sp>
        <p:nvSpPr>
          <p:cNvPr id="26" name="TextBox 25"/>
          <p:cNvSpPr txBox="1"/>
          <p:nvPr/>
        </p:nvSpPr>
        <p:spPr>
          <a:xfrm>
            <a:off x="4818888" y="5431536"/>
            <a:ext cx="6537959" cy="256032"/>
          </a:xfrm>
          <a:prstGeom prst="rect">
            <a:avLst/>
          </a:prstGeom>
          <a:noFill/>
        </p:spPr>
        <p:txBody>
          <a:bodyPr wrap="square">
            <a:spAutoFit/>
          </a:bodyPr>
          <a:lstStyle/>
          <a:p>
            <a:pPr>
              <a:defRPr sz="1050">
                <a:solidFill>
                  <a:srgbClr val="232B34"/>
                </a:solidFill>
                <a:latin typeface="Aptos"/>
              </a:defRPr>
            </a:pPr>
            <a:r>
              <a:t>Business process + business rules</a:t>
            </a:r>
          </a:p>
        </p:txBody>
      </p:sp>
      <p:sp>
        <p:nvSpPr>
          <p:cNvPr id="27" name="Rectangle 26"/>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9" name="TextBox 28"/>
          <p:cNvSpPr txBox="1"/>
          <p:nvPr/>
        </p:nvSpPr>
        <p:spPr>
          <a:xfrm>
            <a:off x="11064240" y="6592824"/>
            <a:ext cx="502920" cy="182880"/>
          </a:xfrm>
          <a:prstGeom prst="rect">
            <a:avLst/>
          </a:prstGeom>
          <a:noFill/>
        </p:spPr>
        <p:txBody>
          <a:bodyPr wrap="none">
            <a:spAutoFit/>
          </a:bodyPr>
          <a:lstStyle/>
          <a:p>
            <a:pPr algn="r"/>
            <a:r>
              <a:rPr sz="800">
                <a:solidFill>
                  <a:srgbClr val="FFFFFF"/>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2 is reusable across SDLC — not a RAG-only agent</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 schema changes with the purpose of the conversation.</a:t>
            </a:r>
          </a:p>
        </p:txBody>
      </p:sp>
      <p:sp>
        <p:nvSpPr>
          <p:cNvPr id="5" name="Rounded Rectangle 4"/>
          <p:cNvSpPr/>
          <p:nvPr/>
        </p:nvSpPr>
        <p:spPr>
          <a:xfrm>
            <a:off x="640080" y="1371600"/>
            <a:ext cx="3429000" cy="1874519"/>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874519"/>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508760"/>
            <a:ext cx="3081528" cy="347472"/>
          </a:xfrm>
          <a:prstGeom prst="rect">
            <a:avLst/>
          </a:prstGeom>
          <a:noFill/>
        </p:spPr>
        <p:txBody>
          <a:bodyPr wrap="none">
            <a:spAutoFit/>
          </a:bodyPr>
          <a:lstStyle/>
          <a:p>
            <a:r>
              <a:rPr sz="1500" b="1">
                <a:solidFill>
                  <a:srgbClr val="142A4A"/>
                </a:solidFill>
                <a:latin typeface="Aptos"/>
              </a:rPr>
              <a:t>Requirements</a:t>
            </a:r>
          </a:p>
        </p:txBody>
      </p:sp>
      <p:sp>
        <p:nvSpPr>
          <p:cNvPr id="8" name="TextBox 7"/>
          <p:cNvSpPr txBox="1"/>
          <p:nvPr/>
        </p:nvSpPr>
        <p:spPr>
          <a:xfrm>
            <a:off x="841247" y="1901952"/>
            <a:ext cx="3063240" cy="1234439"/>
          </a:xfrm>
          <a:prstGeom prst="rect">
            <a:avLst/>
          </a:prstGeom>
          <a:noFill/>
        </p:spPr>
        <p:txBody>
          <a:bodyPr wrap="square">
            <a:spAutoFit/>
          </a:bodyPr>
          <a:lstStyle/>
          <a:p>
            <a:pPr>
              <a:defRPr sz="1130">
                <a:solidFill>
                  <a:srgbClr val="232B34"/>
                </a:solidFill>
                <a:latin typeface="Aptos"/>
              </a:defRPr>
            </a:pPr>
            <a:r>
              <a:t>Business / functional / non-functional requirements</a:t>
            </a:r>
            <a:br/>
            <a:r>
              <a:t>Rules • assumptions • dependencies • acceptance criteria</a:t>
            </a:r>
          </a:p>
        </p:txBody>
      </p:sp>
      <p:sp>
        <p:nvSpPr>
          <p:cNvPr id="9" name="Rounded Rectangle 8"/>
          <p:cNvSpPr/>
          <p:nvPr/>
        </p:nvSpPr>
        <p:spPr>
          <a:xfrm>
            <a:off x="4434840" y="1371600"/>
            <a:ext cx="3429000" cy="1874519"/>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371600"/>
            <a:ext cx="73152" cy="1874519"/>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508760"/>
            <a:ext cx="3081528" cy="347472"/>
          </a:xfrm>
          <a:prstGeom prst="rect">
            <a:avLst/>
          </a:prstGeom>
          <a:noFill/>
        </p:spPr>
        <p:txBody>
          <a:bodyPr wrap="none">
            <a:spAutoFit/>
          </a:bodyPr>
          <a:lstStyle/>
          <a:p>
            <a:r>
              <a:rPr sz="1500" b="1">
                <a:solidFill>
                  <a:srgbClr val="142A4A"/>
                </a:solidFill>
                <a:latin typeface="Aptos"/>
              </a:rPr>
              <a:t>Technical design</a:t>
            </a:r>
          </a:p>
        </p:txBody>
      </p:sp>
      <p:sp>
        <p:nvSpPr>
          <p:cNvPr id="12" name="TextBox 11"/>
          <p:cNvSpPr txBox="1"/>
          <p:nvPr/>
        </p:nvSpPr>
        <p:spPr>
          <a:xfrm>
            <a:off x="4636008" y="1901952"/>
            <a:ext cx="3063240" cy="1234439"/>
          </a:xfrm>
          <a:prstGeom prst="rect">
            <a:avLst/>
          </a:prstGeom>
          <a:noFill/>
        </p:spPr>
        <p:txBody>
          <a:bodyPr wrap="square">
            <a:spAutoFit/>
          </a:bodyPr>
          <a:lstStyle/>
          <a:p>
            <a:pPr>
              <a:defRPr sz="1130">
                <a:solidFill>
                  <a:srgbClr val="232B34"/>
                </a:solidFill>
                <a:latin typeface="Aptos"/>
              </a:defRPr>
            </a:pPr>
            <a:r>
              <a:t>Architecture decisions • components • APIs • data flow</a:t>
            </a:r>
            <a:br/>
            <a:r>
              <a:t>Security • performance • error handling • trade-offs</a:t>
            </a:r>
          </a:p>
        </p:txBody>
      </p:sp>
      <p:sp>
        <p:nvSpPr>
          <p:cNvPr id="13" name="Rounded Rectangle 12"/>
          <p:cNvSpPr/>
          <p:nvPr/>
        </p:nvSpPr>
        <p:spPr>
          <a:xfrm>
            <a:off x="8229600" y="1371600"/>
            <a:ext cx="3429000" cy="1874519"/>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371600"/>
            <a:ext cx="73152" cy="1874519"/>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0768" y="1508760"/>
            <a:ext cx="3081528" cy="347472"/>
          </a:xfrm>
          <a:prstGeom prst="rect">
            <a:avLst/>
          </a:prstGeom>
          <a:noFill/>
        </p:spPr>
        <p:txBody>
          <a:bodyPr wrap="none">
            <a:spAutoFit/>
          </a:bodyPr>
          <a:lstStyle/>
          <a:p>
            <a:r>
              <a:rPr sz="1500" b="1">
                <a:solidFill>
                  <a:srgbClr val="142A4A"/>
                </a:solidFill>
                <a:latin typeface="Aptos"/>
              </a:rPr>
              <a:t>Grooming</a:t>
            </a:r>
          </a:p>
        </p:txBody>
      </p:sp>
      <p:sp>
        <p:nvSpPr>
          <p:cNvPr id="16" name="TextBox 15"/>
          <p:cNvSpPr txBox="1"/>
          <p:nvPr/>
        </p:nvSpPr>
        <p:spPr>
          <a:xfrm>
            <a:off x="8430768" y="1901952"/>
            <a:ext cx="3063240" cy="1234439"/>
          </a:xfrm>
          <a:prstGeom prst="rect">
            <a:avLst/>
          </a:prstGeom>
          <a:noFill/>
        </p:spPr>
        <p:txBody>
          <a:bodyPr wrap="square">
            <a:spAutoFit/>
          </a:bodyPr>
          <a:lstStyle/>
          <a:p>
            <a:pPr>
              <a:defRPr sz="1130">
                <a:solidFill>
                  <a:srgbClr val="232B34"/>
                </a:solidFill>
                <a:latin typeface="Aptos"/>
              </a:defRPr>
            </a:pPr>
            <a:r>
              <a:t>User stories • acceptance criteria • technical tasks</a:t>
            </a:r>
            <a:br/>
            <a:r>
              <a:t>Dependencies • open questions</a:t>
            </a:r>
          </a:p>
        </p:txBody>
      </p:sp>
      <p:sp>
        <p:nvSpPr>
          <p:cNvPr id="17" name="Rounded Rectangle 16"/>
          <p:cNvSpPr/>
          <p:nvPr/>
        </p:nvSpPr>
        <p:spPr>
          <a:xfrm>
            <a:off x="640080" y="3703320"/>
            <a:ext cx="3429000" cy="1874519"/>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703320"/>
            <a:ext cx="73152" cy="1874519"/>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840480"/>
            <a:ext cx="3081528" cy="347472"/>
          </a:xfrm>
          <a:prstGeom prst="rect">
            <a:avLst/>
          </a:prstGeom>
          <a:noFill/>
        </p:spPr>
        <p:txBody>
          <a:bodyPr wrap="none">
            <a:spAutoFit/>
          </a:bodyPr>
          <a:lstStyle/>
          <a:p>
            <a:r>
              <a:rPr sz="1500" b="1">
                <a:solidFill>
                  <a:srgbClr val="142A4A"/>
                </a:solidFill>
                <a:latin typeface="Aptos"/>
              </a:rPr>
              <a:t>Testing / UAT</a:t>
            </a:r>
          </a:p>
        </p:txBody>
      </p:sp>
      <p:sp>
        <p:nvSpPr>
          <p:cNvPr id="20" name="TextBox 19"/>
          <p:cNvSpPr txBox="1"/>
          <p:nvPr/>
        </p:nvSpPr>
        <p:spPr>
          <a:xfrm>
            <a:off x="841247" y="4233672"/>
            <a:ext cx="3063240" cy="1234439"/>
          </a:xfrm>
          <a:prstGeom prst="rect">
            <a:avLst/>
          </a:prstGeom>
          <a:noFill/>
        </p:spPr>
        <p:txBody>
          <a:bodyPr wrap="square">
            <a:spAutoFit/>
          </a:bodyPr>
          <a:lstStyle/>
          <a:p>
            <a:pPr>
              <a:defRPr sz="1130">
                <a:solidFill>
                  <a:srgbClr val="232B34"/>
                </a:solidFill>
                <a:latin typeface="Aptos"/>
              </a:defRPr>
            </a:pPr>
            <a:r>
              <a:t>Scenarios • expected behaviour • negative paths</a:t>
            </a:r>
            <a:br/>
            <a:r>
              <a:t>Defects • decisions • test-data needs</a:t>
            </a:r>
          </a:p>
        </p:txBody>
      </p:sp>
      <p:sp>
        <p:nvSpPr>
          <p:cNvPr id="21" name="Rounded Rectangle 20"/>
          <p:cNvSpPr/>
          <p:nvPr/>
        </p:nvSpPr>
        <p:spPr>
          <a:xfrm>
            <a:off x="4434840" y="3703320"/>
            <a:ext cx="3429000" cy="1874519"/>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703320"/>
            <a:ext cx="73152" cy="1874519"/>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3840480"/>
            <a:ext cx="3081528" cy="347472"/>
          </a:xfrm>
          <a:prstGeom prst="rect">
            <a:avLst/>
          </a:prstGeom>
          <a:noFill/>
        </p:spPr>
        <p:txBody>
          <a:bodyPr wrap="none">
            <a:spAutoFit/>
          </a:bodyPr>
          <a:lstStyle/>
          <a:p>
            <a:r>
              <a:rPr sz="1500" b="1">
                <a:solidFill>
                  <a:srgbClr val="142A4A"/>
                </a:solidFill>
                <a:latin typeface="Aptos"/>
              </a:rPr>
              <a:t>Production / PIR</a:t>
            </a:r>
          </a:p>
        </p:txBody>
      </p:sp>
      <p:sp>
        <p:nvSpPr>
          <p:cNvPr id="24" name="TextBox 23"/>
          <p:cNvSpPr txBox="1"/>
          <p:nvPr/>
        </p:nvSpPr>
        <p:spPr>
          <a:xfrm>
            <a:off x="4636008" y="4233672"/>
            <a:ext cx="3063240" cy="1234439"/>
          </a:xfrm>
          <a:prstGeom prst="rect">
            <a:avLst/>
          </a:prstGeom>
          <a:noFill/>
        </p:spPr>
        <p:txBody>
          <a:bodyPr wrap="square">
            <a:spAutoFit/>
          </a:bodyPr>
          <a:lstStyle/>
          <a:p>
            <a:pPr>
              <a:defRPr sz="1130">
                <a:solidFill>
                  <a:srgbClr val="232B34"/>
                </a:solidFill>
                <a:latin typeface="Aptos"/>
              </a:defRPr>
            </a:pPr>
            <a:r>
              <a:t>Incident • root cause • resolution</a:t>
            </a:r>
            <a:br/>
            <a:r>
              <a:t>Corrective / preventive actions • lessons learned</a:t>
            </a:r>
          </a:p>
        </p:txBody>
      </p:sp>
      <p:sp>
        <p:nvSpPr>
          <p:cNvPr id="25" name="Rectangle 24"/>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7" name="TextBox 26"/>
          <p:cNvSpPr txBox="1"/>
          <p:nvPr/>
        </p:nvSpPr>
        <p:spPr>
          <a:xfrm>
            <a:off x="11064240" y="6592824"/>
            <a:ext cx="502920" cy="182880"/>
          </a:xfrm>
          <a:prstGeom prst="rect">
            <a:avLst/>
          </a:prstGeom>
          <a:noFill/>
        </p:spPr>
        <p:txBody>
          <a:bodyPr wrap="none">
            <a:spAutoFit/>
          </a:bodyPr>
          <a:lstStyle/>
          <a:p>
            <a:pPr algn="r"/>
            <a:r>
              <a:rPr sz="800">
                <a:solidFill>
                  <a:srgbClr val="FFFFFF"/>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From Agent 2 output to a business knowledge graph</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Agent 2 identifies entities and relationships that can be represented explicitly.</a:t>
            </a:r>
          </a:p>
        </p:txBody>
      </p:sp>
      <p:sp>
        <p:nvSpPr>
          <p:cNvPr id="5" name="Rounded Rectangle 4"/>
          <p:cNvSpPr/>
          <p:nvPr/>
        </p:nvSpPr>
        <p:spPr>
          <a:xfrm>
            <a:off x="914400" y="2011680"/>
            <a:ext cx="1828800" cy="73152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Customer</a:t>
            </a:r>
          </a:p>
        </p:txBody>
      </p:sp>
      <p:sp>
        <p:nvSpPr>
          <p:cNvPr id="6" name="Rounded Rectangle 5"/>
          <p:cNvSpPr/>
          <p:nvPr/>
        </p:nvSpPr>
        <p:spPr>
          <a:xfrm>
            <a:off x="3657600" y="2011680"/>
            <a:ext cx="1828800" cy="73152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Documents</a:t>
            </a:r>
          </a:p>
        </p:txBody>
      </p:sp>
      <p:sp>
        <p:nvSpPr>
          <p:cNvPr id="7" name="Rounded Rectangle 6"/>
          <p:cNvSpPr/>
          <p:nvPr/>
        </p:nvSpPr>
        <p:spPr>
          <a:xfrm>
            <a:off x="6400800" y="2011680"/>
            <a:ext cx="1828800" cy="73152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Credit Limit</a:t>
            </a:r>
          </a:p>
        </p:txBody>
      </p:sp>
      <p:sp>
        <p:nvSpPr>
          <p:cNvPr id="8" name="Rounded Rectangle 7"/>
          <p:cNvSpPr/>
          <p:nvPr/>
        </p:nvSpPr>
        <p:spPr>
          <a:xfrm>
            <a:off x="9144000" y="2011680"/>
            <a:ext cx="1828800" cy="731520"/>
          </a:xfrm>
          <a:prstGeom prst="roundRect">
            <a:avLst/>
          </a:prstGeom>
          <a:solidFill>
            <a:srgbClr val="F4F7FA"/>
          </a:solidFill>
          <a:ln w="20320">
            <a:solidFill>
              <a:srgbClr val="E69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Sanctions</a:t>
            </a:r>
          </a:p>
        </p:txBody>
      </p:sp>
      <p:sp>
        <p:nvSpPr>
          <p:cNvPr id="9" name="Rounded Rectangle 8"/>
          <p:cNvSpPr/>
          <p:nvPr/>
        </p:nvSpPr>
        <p:spPr>
          <a:xfrm>
            <a:off x="5029200" y="4160520"/>
            <a:ext cx="2194560" cy="82296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Trade Loan
Approval</a:t>
            </a:r>
          </a:p>
        </p:txBody>
      </p:sp>
      <p:cxnSp>
        <p:nvCxnSpPr>
          <p:cNvPr id="10" name="Connector 9"/>
          <p:cNvCxnSpPr/>
          <p:nvPr/>
        </p:nvCxnSpPr>
        <p:spPr>
          <a:xfrm>
            <a:off x="2743200" y="2377440"/>
            <a:ext cx="914400" cy="0"/>
          </a:xfrm>
          <a:prstGeom prst="line">
            <a:avLst/>
          </a:prstGeom>
          <a:ln w="21590">
            <a:solidFill>
              <a:srgbClr val="005CA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486400" y="2377440"/>
            <a:ext cx="914400" cy="0"/>
          </a:xfrm>
          <a:prstGeom prst="line">
            <a:avLst/>
          </a:prstGeom>
          <a:ln w="21590">
            <a:solidFill>
              <a:srgbClr val="007A7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29600" y="2377440"/>
            <a:ext cx="914400" cy="0"/>
          </a:xfrm>
          <a:prstGeom prst="line">
            <a:avLst/>
          </a:prstGeom>
          <a:ln w="21590">
            <a:solidFill>
              <a:srgbClr val="634C9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178040" y="2743200"/>
            <a:ext cx="2880360" cy="1371600"/>
          </a:xfrm>
          <a:prstGeom prst="line">
            <a:avLst/>
          </a:prstGeom>
          <a:ln w="21590">
            <a:solidFill>
              <a:srgbClr val="E6962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858000" y="2788920"/>
            <a:ext cx="457200" cy="1325880"/>
          </a:xfrm>
          <a:prstGeom prst="line">
            <a:avLst/>
          </a:prstGeom>
          <a:ln w="21590">
            <a:solidFill>
              <a:srgbClr val="277D5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51760" y="1828800"/>
            <a:ext cx="1005840" cy="274320"/>
          </a:xfrm>
          <a:prstGeom prst="rect">
            <a:avLst/>
          </a:prstGeom>
          <a:noFill/>
        </p:spPr>
        <p:txBody>
          <a:bodyPr wrap="none">
            <a:spAutoFit/>
          </a:bodyPr>
          <a:lstStyle/>
          <a:p>
            <a:pPr algn="ctr"/>
            <a:r>
              <a:rPr sz="950">
                <a:solidFill>
                  <a:srgbClr val="646E78"/>
                </a:solidFill>
              </a:rPr>
              <a:t>submits</a:t>
            </a:r>
          </a:p>
        </p:txBody>
      </p:sp>
      <p:sp>
        <p:nvSpPr>
          <p:cNvPr id="16" name="TextBox 15"/>
          <p:cNvSpPr txBox="1"/>
          <p:nvPr/>
        </p:nvSpPr>
        <p:spPr>
          <a:xfrm>
            <a:off x="5394960" y="1828800"/>
            <a:ext cx="914400" cy="274320"/>
          </a:xfrm>
          <a:prstGeom prst="rect">
            <a:avLst/>
          </a:prstGeom>
          <a:noFill/>
        </p:spPr>
        <p:txBody>
          <a:bodyPr wrap="none">
            <a:spAutoFit/>
          </a:bodyPr>
          <a:lstStyle/>
          <a:p>
            <a:pPr algn="ctr"/>
            <a:r>
              <a:rPr sz="950">
                <a:solidFill>
                  <a:srgbClr val="646E78"/>
                </a:solidFill>
              </a:rPr>
              <a:t>enables</a:t>
            </a:r>
          </a:p>
        </p:txBody>
      </p:sp>
      <p:sp>
        <p:nvSpPr>
          <p:cNvPr id="17" name="TextBox 16"/>
          <p:cNvSpPr txBox="1"/>
          <p:nvPr/>
        </p:nvSpPr>
        <p:spPr>
          <a:xfrm>
            <a:off x="8092440" y="1828800"/>
            <a:ext cx="1097280" cy="274320"/>
          </a:xfrm>
          <a:prstGeom prst="rect">
            <a:avLst/>
          </a:prstGeom>
          <a:noFill/>
        </p:spPr>
        <p:txBody>
          <a:bodyPr wrap="none">
            <a:spAutoFit/>
          </a:bodyPr>
          <a:lstStyle/>
          <a:p>
            <a:pPr algn="ctr"/>
            <a:r>
              <a:rPr sz="950">
                <a:solidFill>
                  <a:srgbClr val="646E78"/>
                </a:solidFill>
              </a:rPr>
              <a:t>validated by</a:t>
            </a:r>
          </a:p>
        </p:txBody>
      </p:sp>
      <p:sp>
        <p:nvSpPr>
          <p:cNvPr id="18" name="TextBox 17"/>
          <p:cNvSpPr txBox="1"/>
          <p:nvPr/>
        </p:nvSpPr>
        <p:spPr>
          <a:xfrm>
            <a:off x="7909560" y="3154680"/>
            <a:ext cx="1554480" cy="274320"/>
          </a:xfrm>
          <a:prstGeom prst="rect">
            <a:avLst/>
          </a:prstGeom>
          <a:noFill/>
        </p:spPr>
        <p:txBody>
          <a:bodyPr wrap="none">
            <a:spAutoFit/>
          </a:bodyPr>
          <a:lstStyle/>
          <a:p>
            <a:pPr algn="ctr"/>
            <a:r>
              <a:rPr sz="950">
                <a:solidFill>
                  <a:srgbClr val="646E78"/>
                </a:solidFill>
              </a:rPr>
              <a:t>required before</a:t>
            </a:r>
          </a:p>
        </p:txBody>
      </p:sp>
      <p:sp>
        <p:nvSpPr>
          <p:cNvPr id="19" name="Rounded Rectangle 18"/>
          <p:cNvSpPr/>
          <p:nvPr/>
        </p:nvSpPr>
        <p:spPr>
          <a:xfrm>
            <a:off x="822960" y="5166360"/>
            <a:ext cx="10561320" cy="86868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166360"/>
            <a:ext cx="73152" cy="86868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5303520"/>
            <a:ext cx="10213848" cy="347472"/>
          </a:xfrm>
          <a:prstGeom prst="rect">
            <a:avLst/>
          </a:prstGeom>
          <a:noFill/>
        </p:spPr>
        <p:txBody>
          <a:bodyPr wrap="none">
            <a:spAutoFit/>
          </a:bodyPr>
          <a:lstStyle/>
          <a:p>
            <a:r>
              <a:rPr sz="1250" b="1">
                <a:solidFill>
                  <a:srgbClr val="142A4A"/>
                </a:solidFill>
                <a:latin typeface="Aptos"/>
              </a:rPr>
              <a:t>Why a graph?</a:t>
            </a:r>
          </a:p>
        </p:txBody>
      </p:sp>
      <p:sp>
        <p:nvSpPr>
          <p:cNvPr id="22" name="TextBox 21"/>
          <p:cNvSpPr txBox="1"/>
          <p:nvPr/>
        </p:nvSpPr>
        <p:spPr>
          <a:xfrm>
            <a:off x="1024128" y="5696712"/>
            <a:ext cx="10195560" cy="228600"/>
          </a:xfrm>
          <a:prstGeom prst="rect">
            <a:avLst/>
          </a:prstGeom>
          <a:noFill/>
        </p:spPr>
        <p:txBody>
          <a:bodyPr wrap="square">
            <a:spAutoFit/>
          </a:bodyPr>
          <a:lstStyle/>
          <a:p>
            <a:pPr>
              <a:defRPr sz="1050">
                <a:solidFill>
                  <a:srgbClr val="232B34"/>
                </a:solidFill>
                <a:latin typeface="Aptos"/>
              </a:defRPr>
            </a:pPr>
            <a:r>
              <a:t>It preserves explicit relationships and traceability: which entity depends on which rule, which decision affects which component, and which business process leads to which outcome.</a:t>
            </a:r>
          </a:p>
        </p:txBody>
      </p:sp>
      <p:sp>
        <p:nvSpPr>
          <p:cNvPr id="23" name="Rectangle 22"/>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5" name="TextBox 24"/>
          <p:cNvSpPr txBox="1"/>
          <p:nvPr/>
        </p:nvSpPr>
        <p:spPr>
          <a:xfrm>
            <a:off x="11064240" y="6592824"/>
            <a:ext cx="502920" cy="182880"/>
          </a:xfrm>
          <a:prstGeom prst="rect">
            <a:avLst/>
          </a:prstGeom>
          <a:noFill/>
        </p:spPr>
        <p:txBody>
          <a:bodyPr wrap="none">
            <a:spAutoFit/>
          </a:bodyPr>
          <a:lstStyle/>
          <a:p>
            <a:pPr algn="r"/>
            <a:r>
              <a:rPr sz="800">
                <a:solidFill>
                  <a:srgbClr val="FFFFFF"/>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The Golden Knowledge Source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A governed, traceable representation of what was learned — independent of any single consuming application.</a:t>
            </a:r>
          </a:p>
        </p:txBody>
      </p:sp>
      <p:sp>
        <p:nvSpPr>
          <p:cNvPr id="5" name="Rounded Rectangle 4"/>
          <p:cNvSpPr/>
          <p:nvPr/>
        </p:nvSpPr>
        <p:spPr>
          <a:xfrm>
            <a:off x="1051560" y="1234440"/>
            <a:ext cx="10058400" cy="80467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1234440"/>
            <a:ext cx="73152" cy="804672"/>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52728" y="1371600"/>
            <a:ext cx="9710928" cy="347472"/>
          </a:xfrm>
          <a:prstGeom prst="rect">
            <a:avLst/>
          </a:prstGeom>
          <a:noFill/>
        </p:spPr>
        <p:txBody>
          <a:bodyPr wrap="none">
            <a:spAutoFit/>
          </a:bodyPr>
          <a:lstStyle/>
          <a:p>
            <a:r>
              <a:rPr sz="1350" b="1">
                <a:solidFill>
                  <a:srgbClr val="142A4A"/>
                </a:solidFill>
                <a:latin typeface="Aptos"/>
              </a:rPr>
              <a:t>Source evidence</a:t>
            </a:r>
          </a:p>
        </p:txBody>
      </p:sp>
      <p:sp>
        <p:nvSpPr>
          <p:cNvPr id="8" name="TextBox 7"/>
          <p:cNvSpPr txBox="1"/>
          <p:nvPr/>
        </p:nvSpPr>
        <p:spPr>
          <a:xfrm>
            <a:off x="1252728" y="1764792"/>
            <a:ext cx="9692640" cy="164592"/>
          </a:xfrm>
          <a:prstGeom prst="rect">
            <a:avLst/>
          </a:prstGeom>
          <a:noFill/>
        </p:spPr>
        <p:txBody>
          <a:bodyPr wrap="square">
            <a:spAutoFit/>
          </a:bodyPr>
          <a:lstStyle/>
          <a:p>
            <a:pPr>
              <a:defRPr sz="1050">
                <a:solidFill>
                  <a:srgbClr val="232B34"/>
                </a:solidFill>
                <a:latin typeface="Aptos"/>
              </a:defRPr>
            </a:pPr>
            <a:r>
              <a:t>Zoom recording • VTT • SharePoint item • meeting/date</a:t>
            </a:r>
          </a:p>
        </p:txBody>
      </p:sp>
      <p:sp>
        <p:nvSpPr>
          <p:cNvPr id="9" name="Rounded Rectangle 8"/>
          <p:cNvSpPr/>
          <p:nvPr/>
        </p:nvSpPr>
        <p:spPr>
          <a:xfrm>
            <a:off x="1051560" y="2240280"/>
            <a:ext cx="10058400" cy="80467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51560" y="2240280"/>
            <a:ext cx="73152" cy="804672"/>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2728" y="2377440"/>
            <a:ext cx="9710928" cy="347472"/>
          </a:xfrm>
          <a:prstGeom prst="rect">
            <a:avLst/>
          </a:prstGeom>
          <a:noFill/>
        </p:spPr>
        <p:txBody>
          <a:bodyPr wrap="none">
            <a:spAutoFit/>
          </a:bodyPr>
          <a:lstStyle/>
          <a:p>
            <a:r>
              <a:rPr sz="1350" b="1">
                <a:solidFill>
                  <a:srgbClr val="142A4A"/>
                </a:solidFill>
                <a:latin typeface="Aptos"/>
              </a:rPr>
              <a:t>Normalized evidence</a:t>
            </a:r>
          </a:p>
        </p:txBody>
      </p:sp>
      <p:sp>
        <p:nvSpPr>
          <p:cNvPr id="12" name="TextBox 11"/>
          <p:cNvSpPr txBox="1"/>
          <p:nvPr/>
        </p:nvSpPr>
        <p:spPr>
          <a:xfrm>
            <a:off x="1252728" y="2770632"/>
            <a:ext cx="9692640" cy="164592"/>
          </a:xfrm>
          <a:prstGeom prst="rect">
            <a:avLst/>
          </a:prstGeom>
          <a:noFill/>
        </p:spPr>
        <p:txBody>
          <a:bodyPr wrap="square">
            <a:spAutoFit/>
          </a:bodyPr>
          <a:lstStyle/>
          <a:p>
            <a:pPr>
              <a:defRPr sz="1050">
                <a:solidFill>
                  <a:srgbClr val="232B34"/>
                </a:solidFill>
                <a:latin typeface="Aptos"/>
              </a:defRPr>
            </a:pPr>
            <a:r>
              <a:t>Agent 1 output + lineage + reviewer status</a:t>
            </a:r>
          </a:p>
        </p:txBody>
      </p:sp>
      <p:sp>
        <p:nvSpPr>
          <p:cNvPr id="13" name="Rounded Rectangle 12"/>
          <p:cNvSpPr/>
          <p:nvPr/>
        </p:nvSpPr>
        <p:spPr>
          <a:xfrm>
            <a:off x="1051560" y="3246120"/>
            <a:ext cx="10058400" cy="80467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3246120"/>
            <a:ext cx="73152" cy="804672"/>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2728" y="3383280"/>
            <a:ext cx="9710928" cy="347472"/>
          </a:xfrm>
          <a:prstGeom prst="rect">
            <a:avLst/>
          </a:prstGeom>
          <a:noFill/>
        </p:spPr>
        <p:txBody>
          <a:bodyPr wrap="none">
            <a:spAutoFit/>
          </a:bodyPr>
          <a:lstStyle/>
          <a:p>
            <a:r>
              <a:rPr sz="1350" b="1">
                <a:solidFill>
                  <a:srgbClr val="142A4A"/>
                </a:solidFill>
                <a:latin typeface="Aptos"/>
              </a:rPr>
              <a:t>Structured knowledge</a:t>
            </a:r>
          </a:p>
        </p:txBody>
      </p:sp>
      <p:sp>
        <p:nvSpPr>
          <p:cNvPr id="16" name="TextBox 15"/>
          <p:cNvSpPr txBox="1"/>
          <p:nvPr/>
        </p:nvSpPr>
        <p:spPr>
          <a:xfrm>
            <a:off x="1252728" y="3776472"/>
            <a:ext cx="9692640" cy="164592"/>
          </a:xfrm>
          <a:prstGeom prst="rect">
            <a:avLst/>
          </a:prstGeom>
          <a:noFill/>
        </p:spPr>
        <p:txBody>
          <a:bodyPr wrap="square">
            <a:spAutoFit/>
          </a:bodyPr>
          <a:lstStyle/>
          <a:p>
            <a:pPr>
              <a:defRPr sz="1050">
                <a:solidFill>
                  <a:srgbClr val="232B34"/>
                </a:solidFill>
                <a:latin typeface="Aptos"/>
              </a:defRPr>
            </a:pPr>
            <a:r>
              <a:t>Agent 2 requirements, rules, decisions, procedures</a:t>
            </a:r>
          </a:p>
        </p:txBody>
      </p:sp>
      <p:sp>
        <p:nvSpPr>
          <p:cNvPr id="17" name="Rounded Rectangle 16"/>
          <p:cNvSpPr/>
          <p:nvPr/>
        </p:nvSpPr>
        <p:spPr>
          <a:xfrm>
            <a:off x="1051560" y="4251960"/>
            <a:ext cx="10058400" cy="80467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4251960"/>
            <a:ext cx="73152" cy="804672"/>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4389120"/>
            <a:ext cx="9710928" cy="347472"/>
          </a:xfrm>
          <a:prstGeom prst="rect">
            <a:avLst/>
          </a:prstGeom>
          <a:noFill/>
        </p:spPr>
        <p:txBody>
          <a:bodyPr wrap="none">
            <a:spAutoFit/>
          </a:bodyPr>
          <a:lstStyle/>
          <a:p>
            <a:r>
              <a:rPr sz="1350" b="1">
                <a:solidFill>
                  <a:srgbClr val="142A4A"/>
                </a:solidFill>
                <a:latin typeface="Aptos"/>
              </a:rPr>
              <a:t>Relationships</a:t>
            </a:r>
          </a:p>
        </p:txBody>
      </p:sp>
      <p:sp>
        <p:nvSpPr>
          <p:cNvPr id="20" name="TextBox 19"/>
          <p:cNvSpPr txBox="1"/>
          <p:nvPr/>
        </p:nvSpPr>
        <p:spPr>
          <a:xfrm>
            <a:off x="1252728" y="4782312"/>
            <a:ext cx="9692640" cy="164592"/>
          </a:xfrm>
          <a:prstGeom prst="rect">
            <a:avLst/>
          </a:prstGeom>
          <a:noFill/>
        </p:spPr>
        <p:txBody>
          <a:bodyPr wrap="square">
            <a:spAutoFit/>
          </a:bodyPr>
          <a:lstStyle/>
          <a:p>
            <a:pPr>
              <a:defRPr sz="1050">
                <a:solidFill>
                  <a:srgbClr val="232B34"/>
                </a:solidFill>
                <a:latin typeface="Aptos"/>
              </a:defRPr>
            </a:pPr>
            <a:r>
              <a:t>Knowledge graph: entities, dependencies, decisions</a:t>
            </a:r>
          </a:p>
        </p:txBody>
      </p:sp>
      <p:sp>
        <p:nvSpPr>
          <p:cNvPr id="21" name="Rounded Rectangle 20"/>
          <p:cNvSpPr/>
          <p:nvPr/>
        </p:nvSpPr>
        <p:spPr>
          <a:xfrm>
            <a:off x="1051560" y="5257800"/>
            <a:ext cx="10058400" cy="804672"/>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51560" y="5257800"/>
            <a:ext cx="73152" cy="804672"/>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52728" y="5394960"/>
            <a:ext cx="9710928" cy="347472"/>
          </a:xfrm>
          <a:prstGeom prst="rect">
            <a:avLst/>
          </a:prstGeom>
          <a:noFill/>
        </p:spPr>
        <p:txBody>
          <a:bodyPr wrap="none">
            <a:spAutoFit/>
          </a:bodyPr>
          <a:lstStyle/>
          <a:p>
            <a:r>
              <a:rPr sz="1350" b="1">
                <a:solidFill>
                  <a:srgbClr val="142A4A"/>
                </a:solidFill>
                <a:latin typeface="Aptos"/>
              </a:rPr>
              <a:t>Consumers</a:t>
            </a:r>
          </a:p>
        </p:txBody>
      </p:sp>
      <p:sp>
        <p:nvSpPr>
          <p:cNvPr id="24" name="TextBox 23"/>
          <p:cNvSpPr txBox="1"/>
          <p:nvPr/>
        </p:nvSpPr>
        <p:spPr>
          <a:xfrm>
            <a:off x="1252728" y="5788152"/>
            <a:ext cx="9692640" cy="164592"/>
          </a:xfrm>
          <a:prstGeom prst="rect">
            <a:avLst/>
          </a:prstGeom>
          <a:noFill/>
        </p:spPr>
        <p:txBody>
          <a:bodyPr wrap="square">
            <a:spAutoFit/>
          </a:bodyPr>
          <a:lstStyle/>
          <a:p>
            <a:pPr>
              <a:defRPr sz="1050">
                <a:solidFill>
                  <a:srgbClr val="232B34"/>
                </a:solidFill>
                <a:latin typeface="Aptos"/>
              </a:defRPr>
            </a:pPr>
            <a:r>
              <a:t>GAIP RAG • Copilot • search • analytics • future agents</a:t>
            </a:r>
          </a:p>
        </p:txBody>
      </p:sp>
      <p:sp>
        <p:nvSpPr>
          <p:cNvPr id="25" name="Rounded Rectangle 24"/>
          <p:cNvSpPr/>
          <p:nvPr/>
        </p:nvSpPr>
        <p:spPr>
          <a:xfrm>
            <a:off x="4023360" y="6355080"/>
            <a:ext cx="4114800" cy="329184"/>
          </a:xfrm>
          <a:prstGeom prst="round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GOLDEN SOURCE PRINCIPLE</a:t>
            </a:r>
          </a:p>
        </p:txBody>
      </p:sp>
      <p:sp>
        <p:nvSpPr>
          <p:cNvPr id="26" name="Rectangle 25"/>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8" name="TextBox 27"/>
          <p:cNvSpPr txBox="1"/>
          <p:nvPr/>
        </p:nvSpPr>
        <p:spPr>
          <a:xfrm>
            <a:off x="11064240" y="6592824"/>
            <a:ext cx="502920" cy="182880"/>
          </a:xfrm>
          <a:prstGeom prst="rect">
            <a:avLst/>
          </a:prstGeom>
          <a:noFill/>
        </p:spPr>
        <p:txBody>
          <a:bodyPr wrap="none">
            <a:spAutoFit/>
          </a:bodyPr>
          <a:lstStyle/>
          <a:p>
            <a:pPr algn="r"/>
            <a:r>
              <a:rPr sz="800">
                <a:solidFill>
                  <a:srgbClr val="FFFFFF"/>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Agent 2 output → GAIP RAG pipeline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 proposed layer prepares higher-quality evidence; GAIP remains the downstream RAG consumer.</a:t>
            </a:r>
          </a:p>
        </p:txBody>
      </p:sp>
      <p:sp>
        <p:nvSpPr>
          <p:cNvPr id="5" name="Rounded Rectangle 4"/>
          <p:cNvSpPr/>
          <p:nvPr/>
        </p:nvSpPr>
        <p:spPr>
          <a:xfrm>
            <a:off x="594360" y="2240280"/>
            <a:ext cx="1828800" cy="91440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Agent 2
Structured Knowledge</a:t>
            </a:r>
          </a:p>
        </p:txBody>
      </p:sp>
      <p:cxnSp>
        <p:nvCxnSpPr>
          <p:cNvPr id="6" name="Connector 5"/>
          <p:cNvCxnSpPr/>
          <p:nvPr/>
        </p:nvCxnSpPr>
        <p:spPr>
          <a:xfrm>
            <a:off x="2423160" y="2697480"/>
            <a:ext cx="640080" cy="0"/>
          </a:xfrm>
          <a:prstGeom prst="line">
            <a:avLst/>
          </a:prstGeom>
          <a:ln w="25400">
            <a:solidFill>
              <a:srgbClr val="634C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08960" y="2240280"/>
            <a:ext cx="1828800" cy="91440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Knowledge
Graph / Golden Source</a:t>
            </a:r>
          </a:p>
        </p:txBody>
      </p:sp>
      <p:cxnSp>
        <p:nvCxnSpPr>
          <p:cNvPr id="8" name="Connector 7"/>
          <p:cNvCxnSpPr/>
          <p:nvPr/>
        </p:nvCxnSpPr>
        <p:spPr>
          <a:xfrm>
            <a:off x="4937760" y="2697480"/>
            <a:ext cx="640080" cy="0"/>
          </a:xfrm>
          <a:prstGeom prst="line">
            <a:avLst/>
          </a:prstGeom>
          <a:ln w="25400">
            <a:solidFill>
              <a:srgbClr val="277D5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23560" y="2240280"/>
            <a:ext cx="1828800" cy="91440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GAIP
Ingestion</a:t>
            </a:r>
          </a:p>
        </p:txBody>
      </p:sp>
      <p:cxnSp>
        <p:nvCxnSpPr>
          <p:cNvPr id="10" name="Connector 9"/>
          <p:cNvCxnSpPr/>
          <p:nvPr/>
        </p:nvCxnSpPr>
        <p:spPr>
          <a:xfrm>
            <a:off x="7452360" y="2697480"/>
            <a:ext cx="640080" cy="0"/>
          </a:xfrm>
          <a:prstGeom prst="line">
            <a:avLst/>
          </a:prstGeom>
          <a:ln w="25400">
            <a:solidFill>
              <a:srgbClr val="005CA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38160" y="2240280"/>
            <a:ext cx="1554480" cy="91440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Chunk /
Embed</a:t>
            </a:r>
          </a:p>
        </p:txBody>
      </p:sp>
      <p:cxnSp>
        <p:nvCxnSpPr>
          <p:cNvPr id="12" name="Connector 11"/>
          <p:cNvCxnSpPr/>
          <p:nvPr/>
        </p:nvCxnSpPr>
        <p:spPr>
          <a:xfrm>
            <a:off x="9692640" y="2697480"/>
            <a:ext cx="594360" cy="0"/>
          </a:xfrm>
          <a:prstGeom prst="line">
            <a:avLst/>
          </a:prstGeom>
          <a:ln w="25400">
            <a:solidFill>
              <a:srgbClr val="007A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332720" y="2240280"/>
            <a:ext cx="1280160" cy="914400"/>
          </a:xfrm>
          <a:prstGeom prst="roundRect">
            <a:avLst/>
          </a:prstGeom>
          <a:solidFill>
            <a:srgbClr val="F4F7FA"/>
          </a:solidFill>
          <a:ln w="20320">
            <a:solidFill>
              <a:srgbClr val="00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42A4A"/>
                </a:solidFill>
                <a:latin typeface="Aptos"/>
              </a:rPr>
              <a:t>Index /
Retrieve</a:t>
            </a:r>
          </a:p>
        </p:txBody>
      </p:sp>
      <p:sp>
        <p:nvSpPr>
          <p:cNvPr id="14" name="Rounded Rectangle 13"/>
          <p:cNvSpPr/>
          <p:nvPr/>
        </p:nvSpPr>
        <p:spPr>
          <a:xfrm>
            <a:off x="914400" y="3977639"/>
            <a:ext cx="3246120" cy="14173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3977639"/>
            <a:ext cx="73152" cy="141732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114800"/>
            <a:ext cx="2898648" cy="347472"/>
          </a:xfrm>
          <a:prstGeom prst="rect">
            <a:avLst/>
          </a:prstGeom>
          <a:noFill/>
        </p:spPr>
        <p:txBody>
          <a:bodyPr wrap="none">
            <a:spAutoFit/>
          </a:bodyPr>
          <a:lstStyle/>
          <a:p>
            <a:r>
              <a:rPr sz="1400" b="1">
                <a:solidFill>
                  <a:srgbClr val="142A4A"/>
                </a:solidFill>
                <a:latin typeface="Aptos"/>
              </a:rPr>
              <a:t>What we gain</a:t>
            </a:r>
          </a:p>
        </p:txBody>
      </p:sp>
      <p:sp>
        <p:nvSpPr>
          <p:cNvPr id="17" name="TextBox 16"/>
          <p:cNvSpPr txBox="1"/>
          <p:nvPr/>
        </p:nvSpPr>
        <p:spPr>
          <a:xfrm>
            <a:off x="1115568" y="4507992"/>
            <a:ext cx="2880360" cy="777240"/>
          </a:xfrm>
          <a:prstGeom prst="rect">
            <a:avLst/>
          </a:prstGeom>
          <a:noFill/>
        </p:spPr>
        <p:txBody>
          <a:bodyPr wrap="square">
            <a:spAutoFit/>
          </a:bodyPr>
          <a:lstStyle/>
          <a:p>
            <a:pPr>
              <a:defRPr sz="1100">
                <a:solidFill>
                  <a:srgbClr val="232B34"/>
                </a:solidFill>
                <a:latin typeface="Aptos"/>
              </a:defRPr>
            </a:pPr>
            <a:r>
              <a:t>Cleaner evidence, explicit knowledge boundaries, provenance and reusable content.</a:t>
            </a:r>
          </a:p>
        </p:txBody>
      </p:sp>
      <p:sp>
        <p:nvSpPr>
          <p:cNvPr id="18" name="Rounded Rectangle 17"/>
          <p:cNvSpPr/>
          <p:nvPr/>
        </p:nvSpPr>
        <p:spPr>
          <a:xfrm>
            <a:off x="4480560" y="3977639"/>
            <a:ext cx="3246120" cy="14173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977639"/>
            <a:ext cx="73152" cy="141732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1728" y="4114800"/>
            <a:ext cx="2898648" cy="347472"/>
          </a:xfrm>
          <a:prstGeom prst="rect">
            <a:avLst/>
          </a:prstGeom>
          <a:noFill/>
        </p:spPr>
        <p:txBody>
          <a:bodyPr wrap="none">
            <a:spAutoFit/>
          </a:bodyPr>
          <a:lstStyle/>
          <a:p>
            <a:r>
              <a:rPr sz="1400" b="1">
                <a:solidFill>
                  <a:srgbClr val="142A4A"/>
                </a:solidFill>
                <a:latin typeface="Aptos"/>
              </a:rPr>
              <a:t>What GAIP does</a:t>
            </a:r>
          </a:p>
        </p:txBody>
      </p:sp>
      <p:sp>
        <p:nvSpPr>
          <p:cNvPr id="21" name="TextBox 20"/>
          <p:cNvSpPr txBox="1"/>
          <p:nvPr/>
        </p:nvSpPr>
        <p:spPr>
          <a:xfrm>
            <a:off x="4681728" y="4507992"/>
            <a:ext cx="2880360" cy="777240"/>
          </a:xfrm>
          <a:prstGeom prst="rect">
            <a:avLst/>
          </a:prstGeom>
          <a:noFill/>
        </p:spPr>
        <p:txBody>
          <a:bodyPr wrap="square">
            <a:spAutoFit/>
          </a:bodyPr>
          <a:lstStyle/>
          <a:p>
            <a:pPr>
              <a:defRPr sz="1100">
                <a:solidFill>
                  <a:srgbClr val="232B34"/>
                </a:solidFill>
                <a:latin typeface="Aptos"/>
              </a:defRPr>
            </a:pPr>
            <a:r>
              <a:t>Existing RAG ingestion, retrieval and generation capabilities consume the prepared knowledge.</a:t>
            </a:r>
          </a:p>
        </p:txBody>
      </p:sp>
      <p:sp>
        <p:nvSpPr>
          <p:cNvPr id="22" name="Rounded Rectangle 21"/>
          <p:cNvSpPr/>
          <p:nvPr/>
        </p:nvSpPr>
        <p:spPr>
          <a:xfrm>
            <a:off x="8046720" y="3977639"/>
            <a:ext cx="3246120" cy="14173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3977639"/>
            <a:ext cx="73152" cy="141732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4114800"/>
            <a:ext cx="2898648" cy="347472"/>
          </a:xfrm>
          <a:prstGeom prst="rect">
            <a:avLst/>
          </a:prstGeom>
          <a:noFill/>
        </p:spPr>
        <p:txBody>
          <a:bodyPr wrap="none">
            <a:spAutoFit/>
          </a:bodyPr>
          <a:lstStyle/>
          <a:p>
            <a:r>
              <a:rPr sz="1400" b="1">
                <a:solidFill>
                  <a:srgbClr val="142A4A"/>
                </a:solidFill>
                <a:latin typeface="Aptos"/>
              </a:rPr>
              <a:t>Important boundary</a:t>
            </a:r>
          </a:p>
        </p:txBody>
      </p:sp>
      <p:sp>
        <p:nvSpPr>
          <p:cNvPr id="25" name="TextBox 24"/>
          <p:cNvSpPr txBox="1"/>
          <p:nvPr/>
        </p:nvSpPr>
        <p:spPr>
          <a:xfrm>
            <a:off x="8247888" y="4507992"/>
            <a:ext cx="2880360" cy="777240"/>
          </a:xfrm>
          <a:prstGeom prst="rect">
            <a:avLst/>
          </a:prstGeom>
          <a:noFill/>
        </p:spPr>
        <p:txBody>
          <a:bodyPr wrap="square">
            <a:spAutoFit/>
          </a:bodyPr>
          <a:lstStyle/>
          <a:p>
            <a:pPr>
              <a:defRPr sz="1100">
                <a:solidFill>
                  <a:srgbClr val="232B34"/>
                </a:solidFill>
                <a:latin typeface="Aptos"/>
              </a:defRPr>
            </a:pPr>
            <a:r>
              <a:t>The knowledge engineering layer is upstream; it does not require replacing the existing GAIP platform.</a:t>
            </a:r>
          </a:p>
        </p:txBody>
      </p:sp>
      <p:sp>
        <p:nvSpPr>
          <p:cNvPr id="26" name="Rectangle 25"/>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8" name="TextBox 27"/>
          <p:cNvSpPr txBox="1"/>
          <p:nvPr/>
        </p:nvSpPr>
        <p:spPr>
          <a:xfrm>
            <a:off x="11064240" y="6592824"/>
            <a:ext cx="502920" cy="182880"/>
          </a:xfrm>
          <a:prstGeom prst="rect">
            <a:avLst/>
          </a:prstGeom>
          <a:noFill/>
        </p:spPr>
        <p:txBody>
          <a:bodyPr wrap="none">
            <a:spAutoFit/>
          </a:bodyPr>
          <a:lstStyle/>
          <a:p>
            <a:pPr algn="r"/>
            <a:r>
              <a:rPr sz="800">
                <a:solidFill>
                  <a:srgbClr val="FFFFFF"/>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The same Agent 2 output can directly support development</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For a single Zoom design/requirements meeting, we do not need the full RAG path.</a:t>
            </a:r>
          </a:p>
        </p:txBody>
      </p:sp>
      <p:sp>
        <p:nvSpPr>
          <p:cNvPr id="5" name="Rounded Rectangle 4"/>
          <p:cNvSpPr/>
          <p:nvPr/>
        </p:nvSpPr>
        <p:spPr>
          <a:xfrm>
            <a:off x="685800" y="1645920"/>
            <a:ext cx="1645920" cy="73152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Zoom</a:t>
            </a:r>
          </a:p>
        </p:txBody>
      </p:sp>
      <p:cxnSp>
        <p:nvCxnSpPr>
          <p:cNvPr id="6" name="Connector 5"/>
          <p:cNvCxnSpPr/>
          <p:nvPr/>
        </p:nvCxnSpPr>
        <p:spPr>
          <a:xfrm>
            <a:off x="2331720" y="2011680"/>
            <a:ext cx="457200" cy="0"/>
          </a:xfrm>
          <a:prstGeom prst="line">
            <a:avLst/>
          </a:prstGeom>
          <a:ln w="25400">
            <a:solidFill>
              <a:srgbClr val="005CA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1645920"/>
            <a:ext cx="1645920" cy="731520"/>
          </a:xfrm>
          <a:prstGeom prst="roundRect">
            <a:avLst/>
          </a:prstGeom>
          <a:solidFill>
            <a:srgbClr val="F4F7FA"/>
          </a:solidFill>
          <a:ln w="20320">
            <a:solidFill>
              <a:srgbClr val="00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VTT</a:t>
            </a:r>
          </a:p>
        </p:txBody>
      </p:sp>
      <p:cxnSp>
        <p:nvCxnSpPr>
          <p:cNvPr id="8" name="Connector 7"/>
          <p:cNvCxnSpPr/>
          <p:nvPr/>
        </p:nvCxnSpPr>
        <p:spPr>
          <a:xfrm>
            <a:off x="4480560" y="2011680"/>
            <a:ext cx="457200" cy="0"/>
          </a:xfrm>
          <a:prstGeom prst="line">
            <a:avLst/>
          </a:prstGeom>
          <a:ln w="25400">
            <a:solidFill>
              <a:srgbClr val="0099C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983480" y="1645920"/>
            <a:ext cx="1645920" cy="73152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4A"/>
                </a:solidFill>
                <a:latin typeface="Aptos"/>
              </a:rPr>
              <a:t>Agent 1</a:t>
            </a:r>
          </a:p>
        </p:txBody>
      </p:sp>
      <p:cxnSp>
        <p:nvCxnSpPr>
          <p:cNvPr id="10" name="Connector 9"/>
          <p:cNvCxnSpPr/>
          <p:nvPr/>
        </p:nvCxnSpPr>
        <p:spPr>
          <a:xfrm>
            <a:off x="6629400" y="2011680"/>
            <a:ext cx="457200" cy="0"/>
          </a:xfrm>
          <a:prstGeom prst="line">
            <a:avLst/>
          </a:prstGeom>
          <a:ln w="25400">
            <a:solidFill>
              <a:srgbClr val="007A7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32320" y="1645920"/>
            <a:ext cx="1645920" cy="73152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Agent 2
FSR/Design</a:t>
            </a:r>
          </a:p>
        </p:txBody>
      </p:sp>
      <p:cxnSp>
        <p:nvCxnSpPr>
          <p:cNvPr id="12" name="Connector 11"/>
          <p:cNvCxnSpPr/>
          <p:nvPr/>
        </p:nvCxnSpPr>
        <p:spPr>
          <a:xfrm>
            <a:off x="8778240" y="2011680"/>
            <a:ext cx="457200" cy="0"/>
          </a:xfrm>
          <a:prstGeom prst="line">
            <a:avLst/>
          </a:prstGeom>
          <a:ln w="25400">
            <a:solidFill>
              <a:srgbClr val="634C9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281160" y="1645920"/>
            <a:ext cx="2103120" cy="73152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VS Code Copilot
/ Agent</a:t>
            </a:r>
          </a:p>
        </p:txBody>
      </p:sp>
      <p:sp>
        <p:nvSpPr>
          <p:cNvPr id="14" name="Rounded Rectangle 13"/>
          <p:cNvSpPr/>
          <p:nvPr/>
        </p:nvSpPr>
        <p:spPr>
          <a:xfrm>
            <a:off x="731520" y="3063240"/>
            <a:ext cx="3291840" cy="201168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063240"/>
            <a:ext cx="73152" cy="201168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200400"/>
            <a:ext cx="2944368" cy="347472"/>
          </a:xfrm>
          <a:prstGeom prst="rect">
            <a:avLst/>
          </a:prstGeom>
          <a:noFill/>
        </p:spPr>
        <p:txBody>
          <a:bodyPr wrap="none">
            <a:spAutoFit/>
          </a:bodyPr>
          <a:lstStyle/>
          <a:p>
            <a:r>
              <a:rPr sz="1400" b="1">
                <a:solidFill>
                  <a:srgbClr val="142A4A"/>
                </a:solidFill>
                <a:latin typeface="Aptos"/>
              </a:rPr>
              <a:t>Copilot-ready outputs</a:t>
            </a:r>
          </a:p>
        </p:txBody>
      </p:sp>
      <p:sp>
        <p:nvSpPr>
          <p:cNvPr id="17" name="TextBox 16"/>
          <p:cNvSpPr txBox="1"/>
          <p:nvPr/>
        </p:nvSpPr>
        <p:spPr>
          <a:xfrm>
            <a:off x="932688" y="3593592"/>
            <a:ext cx="2926080" cy="1371600"/>
          </a:xfrm>
          <a:prstGeom prst="rect">
            <a:avLst/>
          </a:prstGeom>
          <a:noFill/>
        </p:spPr>
        <p:txBody>
          <a:bodyPr wrap="square">
            <a:spAutoFit/>
          </a:bodyPr>
          <a:lstStyle/>
          <a:p>
            <a:pPr>
              <a:defRPr sz="1200">
                <a:solidFill>
                  <a:srgbClr val="232B34"/>
                </a:solidFill>
                <a:latin typeface="Aptos"/>
              </a:defRPr>
            </a:pPr>
            <a:r>
              <a:t>requirements.md</a:t>
            </a:r>
            <a:br/>
            <a:r>
              <a:t>technical-decisions.md</a:t>
            </a:r>
            <a:br/>
            <a:r>
              <a:t>acceptance-criteria.md</a:t>
            </a:r>
            <a:br/>
            <a:r>
              <a:t>open-questions.md</a:t>
            </a:r>
            <a:br/>
            <a:r>
              <a:t>action-items.md</a:t>
            </a:r>
          </a:p>
        </p:txBody>
      </p:sp>
      <p:sp>
        <p:nvSpPr>
          <p:cNvPr id="18" name="Rounded Rectangle 17"/>
          <p:cNvSpPr/>
          <p:nvPr/>
        </p:nvSpPr>
        <p:spPr>
          <a:xfrm>
            <a:off x="4434840" y="3063240"/>
            <a:ext cx="3291840" cy="201168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34840" y="3063240"/>
            <a:ext cx="73152" cy="201168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7" y="3200400"/>
            <a:ext cx="2944368" cy="347472"/>
          </a:xfrm>
          <a:prstGeom prst="rect">
            <a:avLst/>
          </a:prstGeom>
          <a:noFill/>
        </p:spPr>
        <p:txBody>
          <a:bodyPr wrap="none">
            <a:spAutoFit/>
          </a:bodyPr>
          <a:lstStyle/>
          <a:p>
            <a:r>
              <a:rPr sz="1400" b="1">
                <a:solidFill>
                  <a:srgbClr val="142A4A"/>
                </a:solidFill>
                <a:latin typeface="Aptos"/>
              </a:rPr>
              <a:t>Why Agent 2 helps</a:t>
            </a:r>
          </a:p>
        </p:txBody>
      </p:sp>
      <p:sp>
        <p:nvSpPr>
          <p:cNvPr id="21" name="TextBox 20"/>
          <p:cNvSpPr txBox="1"/>
          <p:nvPr/>
        </p:nvSpPr>
        <p:spPr>
          <a:xfrm>
            <a:off x="4636007" y="3593592"/>
            <a:ext cx="2926080" cy="1371600"/>
          </a:xfrm>
          <a:prstGeom prst="rect">
            <a:avLst/>
          </a:prstGeom>
          <a:noFill/>
        </p:spPr>
        <p:txBody>
          <a:bodyPr wrap="square">
            <a:spAutoFit/>
          </a:bodyPr>
          <a:lstStyle/>
          <a:p>
            <a:pPr>
              <a:defRPr sz="1200">
                <a:solidFill>
                  <a:srgbClr val="232B34"/>
                </a:solidFill>
                <a:latin typeface="Aptos"/>
              </a:defRPr>
            </a:pPr>
            <a:r>
              <a:t>Copilot gets decisions and constraints instead of a 60-minute conversational transcript. This reduces ambiguity and makes development context easier to consume.</a:t>
            </a:r>
          </a:p>
        </p:txBody>
      </p:sp>
      <p:sp>
        <p:nvSpPr>
          <p:cNvPr id="22" name="Rounded Rectangle 21"/>
          <p:cNvSpPr/>
          <p:nvPr/>
        </p:nvSpPr>
        <p:spPr>
          <a:xfrm>
            <a:off x="8138160" y="3063240"/>
            <a:ext cx="3291840" cy="201168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3063240"/>
            <a:ext cx="73152" cy="201168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8" y="3200400"/>
            <a:ext cx="2944368" cy="347472"/>
          </a:xfrm>
          <a:prstGeom prst="rect">
            <a:avLst/>
          </a:prstGeom>
          <a:noFill/>
        </p:spPr>
        <p:txBody>
          <a:bodyPr wrap="none">
            <a:spAutoFit/>
          </a:bodyPr>
          <a:lstStyle/>
          <a:p>
            <a:r>
              <a:rPr sz="1400" b="1">
                <a:solidFill>
                  <a:srgbClr val="142A4A"/>
                </a:solidFill>
                <a:latin typeface="Aptos"/>
              </a:rPr>
              <a:t>When to use full RAG</a:t>
            </a:r>
          </a:p>
        </p:txBody>
      </p:sp>
      <p:sp>
        <p:nvSpPr>
          <p:cNvPr id="25" name="TextBox 24"/>
          <p:cNvSpPr txBox="1"/>
          <p:nvPr/>
        </p:nvSpPr>
        <p:spPr>
          <a:xfrm>
            <a:off x="8339328" y="3593592"/>
            <a:ext cx="2926080" cy="1371600"/>
          </a:xfrm>
          <a:prstGeom prst="rect">
            <a:avLst/>
          </a:prstGeom>
          <a:noFill/>
        </p:spPr>
        <p:txBody>
          <a:bodyPr wrap="square">
            <a:spAutoFit/>
          </a:bodyPr>
          <a:lstStyle/>
          <a:p>
            <a:pPr>
              <a:defRPr sz="1200">
                <a:solidFill>
                  <a:srgbClr val="232B34"/>
                </a:solidFill>
                <a:latin typeface="Aptos"/>
              </a:defRPr>
            </a:pPr>
            <a:r>
              <a:t>When knowledge must become reusable across teams and future questions, continue to Knowledge Graph → Golden Source → GAIP.</a:t>
            </a:r>
          </a:p>
        </p:txBody>
      </p:sp>
      <p:sp>
        <p:nvSpPr>
          <p:cNvPr id="26" name="Rectangle 25"/>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8" name="TextBox 27"/>
          <p:cNvSpPr txBox="1"/>
          <p:nvPr/>
        </p:nvSpPr>
        <p:spPr>
          <a:xfrm>
            <a:off x="11064240" y="6592824"/>
            <a:ext cx="502920" cy="182880"/>
          </a:xfrm>
          <a:prstGeom prst="rect">
            <a:avLst/>
          </a:prstGeom>
          <a:noFill/>
        </p:spPr>
        <p:txBody>
          <a:bodyPr wrap="none">
            <a:spAutoFit/>
          </a:bodyPr>
          <a:lstStyle/>
          <a:p>
            <a:pPr algn="r"/>
            <a:r>
              <a:rPr sz="800">
                <a:solidFill>
                  <a:srgbClr val="FFFFFF"/>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Future enhancement — Agent 3: Metadata &amp; Context Enrichment</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Introduce once GAIP metadata filtering and retrieval controls are mature enough to exploit richer context.</a:t>
            </a:r>
          </a:p>
        </p:txBody>
      </p:sp>
      <p:sp>
        <p:nvSpPr>
          <p:cNvPr id="5" name="Rounded Rectangle 4"/>
          <p:cNvSpPr/>
          <p:nvPr/>
        </p:nvSpPr>
        <p:spPr>
          <a:xfrm>
            <a:off x="731520" y="1965960"/>
            <a:ext cx="1828800" cy="777240"/>
          </a:xfrm>
          <a:prstGeom prst="roundRect">
            <a:avLst/>
          </a:prstGeom>
          <a:solidFill>
            <a:srgbClr val="F4F7FA"/>
          </a:solidFill>
          <a:ln w="20320">
            <a:solidFill>
              <a:srgbClr val="634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Agent 2
Structured Knowledge</a:t>
            </a:r>
          </a:p>
        </p:txBody>
      </p:sp>
      <p:cxnSp>
        <p:nvCxnSpPr>
          <p:cNvPr id="6" name="Connector 5"/>
          <p:cNvCxnSpPr/>
          <p:nvPr/>
        </p:nvCxnSpPr>
        <p:spPr>
          <a:xfrm>
            <a:off x="2560320" y="2359152"/>
            <a:ext cx="594360" cy="0"/>
          </a:xfrm>
          <a:prstGeom prst="line">
            <a:avLst/>
          </a:prstGeom>
          <a:ln w="25400">
            <a:solidFill>
              <a:srgbClr val="634C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00400" y="1965960"/>
            <a:ext cx="2011680" cy="777240"/>
          </a:xfrm>
          <a:prstGeom prst="roundRect">
            <a:avLst/>
          </a:prstGeom>
          <a:solidFill>
            <a:srgbClr val="F4F7FA"/>
          </a:solidFill>
          <a:ln w="20320">
            <a:solidFill>
              <a:srgbClr val="005C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Agent 3
Context + Metadata</a:t>
            </a:r>
          </a:p>
        </p:txBody>
      </p:sp>
      <p:cxnSp>
        <p:nvCxnSpPr>
          <p:cNvPr id="8" name="Connector 7"/>
          <p:cNvCxnSpPr/>
          <p:nvPr/>
        </p:nvCxnSpPr>
        <p:spPr>
          <a:xfrm>
            <a:off x="5212080" y="2359152"/>
            <a:ext cx="594360" cy="0"/>
          </a:xfrm>
          <a:prstGeom prst="line">
            <a:avLst/>
          </a:prstGeom>
          <a:ln w="25400">
            <a:solidFill>
              <a:srgbClr val="005CA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852160" y="1965960"/>
            <a:ext cx="2011680" cy="777240"/>
          </a:xfrm>
          <a:prstGeom prst="roundRect">
            <a:avLst/>
          </a:prstGeom>
          <a:solidFill>
            <a:srgbClr val="F4F7FA"/>
          </a:solidFill>
          <a:ln w="20320">
            <a:solidFill>
              <a:srgbClr val="00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Metadata-aware
GAIP Retrieval</a:t>
            </a:r>
          </a:p>
        </p:txBody>
      </p:sp>
      <p:cxnSp>
        <p:nvCxnSpPr>
          <p:cNvPr id="10" name="Connector 9"/>
          <p:cNvCxnSpPr/>
          <p:nvPr/>
        </p:nvCxnSpPr>
        <p:spPr>
          <a:xfrm>
            <a:off x="7863840" y="2359152"/>
            <a:ext cx="594360" cy="0"/>
          </a:xfrm>
          <a:prstGeom prst="line">
            <a:avLst/>
          </a:prstGeom>
          <a:ln w="25400">
            <a:solidFill>
              <a:srgbClr val="007A7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503920" y="1965960"/>
            <a:ext cx="2560320" cy="777240"/>
          </a:xfrm>
          <a:prstGeom prst="roundRect">
            <a:avLst/>
          </a:prstGeom>
          <a:solidFill>
            <a:srgbClr val="F4F7FA"/>
          </a:solidFill>
          <a:ln w="20320">
            <a:solidFill>
              <a:srgbClr val="277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42A4A"/>
                </a:solidFill>
                <a:latin typeface="Aptos"/>
              </a:rPr>
              <a:t>More precise evidence
for generation</a:t>
            </a:r>
          </a:p>
        </p:txBody>
      </p:sp>
      <p:sp>
        <p:nvSpPr>
          <p:cNvPr id="12" name="Rounded Rectangle 11"/>
          <p:cNvSpPr/>
          <p:nvPr/>
        </p:nvSpPr>
        <p:spPr>
          <a:xfrm>
            <a:off x="777240" y="3429000"/>
            <a:ext cx="3337560" cy="16459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429000"/>
            <a:ext cx="73152" cy="164592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3566160"/>
            <a:ext cx="2990088" cy="347472"/>
          </a:xfrm>
          <a:prstGeom prst="rect">
            <a:avLst/>
          </a:prstGeom>
          <a:noFill/>
        </p:spPr>
        <p:txBody>
          <a:bodyPr wrap="none">
            <a:spAutoFit/>
          </a:bodyPr>
          <a:lstStyle/>
          <a:p>
            <a:r>
              <a:rPr sz="1350" b="1">
                <a:solidFill>
                  <a:srgbClr val="142A4A"/>
                </a:solidFill>
                <a:latin typeface="Aptos"/>
              </a:rPr>
              <a:t>Example metadata</a:t>
            </a:r>
          </a:p>
        </p:txBody>
      </p:sp>
      <p:sp>
        <p:nvSpPr>
          <p:cNvPr id="15" name="TextBox 14"/>
          <p:cNvSpPr txBox="1"/>
          <p:nvPr/>
        </p:nvSpPr>
        <p:spPr>
          <a:xfrm>
            <a:off x="978408" y="3959352"/>
            <a:ext cx="2971800" cy="1005840"/>
          </a:xfrm>
          <a:prstGeom prst="rect">
            <a:avLst/>
          </a:prstGeom>
          <a:noFill/>
        </p:spPr>
        <p:txBody>
          <a:bodyPr wrap="square">
            <a:spAutoFit/>
          </a:bodyPr>
          <a:lstStyle/>
          <a:p>
            <a:pPr>
              <a:defRPr sz="1100">
                <a:solidFill>
                  <a:srgbClr val="232B34"/>
                </a:solidFill>
                <a:latin typeface="Aptos"/>
              </a:defRPr>
            </a:pPr>
            <a:r>
              <a:t>Product = Trade Loan</a:t>
            </a:r>
            <a:br/>
            <a:r>
              <a:t>Country = UK</a:t>
            </a:r>
            <a:br/>
            <a:r>
              <a:t>Region = EMEA</a:t>
            </a:r>
            <a:br/>
            <a:r>
              <a:t>Process = Loan Amendment</a:t>
            </a:r>
            <a:br/>
            <a:r>
              <a:t>Status = Approved</a:t>
            </a:r>
            <a:br/>
            <a:r>
              <a:t>Version = 5.2</a:t>
            </a:r>
          </a:p>
        </p:txBody>
      </p:sp>
      <p:sp>
        <p:nvSpPr>
          <p:cNvPr id="16" name="Rounded Rectangle 15"/>
          <p:cNvSpPr/>
          <p:nvPr/>
        </p:nvSpPr>
        <p:spPr>
          <a:xfrm>
            <a:off x="4434840" y="3429000"/>
            <a:ext cx="3337560" cy="16459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3429000"/>
            <a:ext cx="73152" cy="164592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7" y="3566160"/>
            <a:ext cx="2990088" cy="347472"/>
          </a:xfrm>
          <a:prstGeom prst="rect">
            <a:avLst/>
          </a:prstGeom>
          <a:noFill/>
        </p:spPr>
        <p:txBody>
          <a:bodyPr wrap="none">
            <a:spAutoFit/>
          </a:bodyPr>
          <a:lstStyle/>
          <a:p>
            <a:r>
              <a:rPr sz="1350" b="1">
                <a:solidFill>
                  <a:srgbClr val="142A4A"/>
                </a:solidFill>
                <a:latin typeface="Aptos"/>
              </a:rPr>
              <a:t>Why it matters</a:t>
            </a:r>
          </a:p>
        </p:txBody>
      </p:sp>
      <p:sp>
        <p:nvSpPr>
          <p:cNvPr id="19" name="TextBox 18"/>
          <p:cNvSpPr txBox="1"/>
          <p:nvPr/>
        </p:nvSpPr>
        <p:spPr>
          <a:xfrm>
            <a:off x="4636007" y="3959352"/>
            <a:ext cx="2971800" cy="1005840"/>
          </a:xfrm>
          <a:prstGeom prst="rect">
            <a:avLst/>
          </a:prstGeom>
          <a:noFill/>
        </p:spPr>
        <p:txBody>
          <a:bodyPr wrap="square">
            <a:spAutoFit/>
          </a:bodyPr>
          <a:lstStyle/>
          <a:p>
            <a:pPr>
              <a:defRPr sz="1100">
                <a:solidFill>
                  <a:srgbClr val="232B34"/>
                </a:solidFill>
                <a:latin typeface="Aptos"/>
              </a:defRPr>
            </a:pPr>
            <a:r>
              <a:t>A query for “current UK Trade Loan approval rules” can filter by product, geography, status and version before generation.</a:t>
            </a:r>
          </a:p>
        </p:txBody>
      </p:sp>
      <p:sp>
        <p:nvSpPr>
          <p:cNvPr id="20" name="Rounded Rectangle 19"/>
          <p:cNvSpPr/>
          <p:nvPr/>
        </p:nvSpPr>
        <p:spPr>
          <a:xfrm>
            <a:off x="8092440" y="3429000"/>
            <a:ext cx="3337560" cy="16459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3429000"/>
            <a:ext cx="73152" cy="164592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3566160"/>
            <a:ext cx="2990088" cy="347472"/>
          </a:xfrm>
          <a:prstGeom prst="rect">
            <a:avLst/>
          </a:prstGeom>
          <a:noFill/>
        </p:spPr>
        <p:txBody>
          <a:bodyPr wrap="none">
            <a:spAutoFit/>
          </a:bodyPr>
          <a:lstStyle/>
          <a:p>
            <a:r>
              <a:rPr sz="1350" b="1">
                <a:solidFill>
                  <a:srgbClr val="142A4A"/>
                </a:solidFill>
                <a:latin typeface="Aptos"/>
              </a:rPr>
              <a:t>Governance rule</a:t>
            </a:r>
          </a:p>
        </p:txBody>
      </p:sp>
      <p:sp>
        <p:nvSpPr>
          <p:cNvPr id="23" name="TextBox 22"/>
          <p:cNvSpPr txBox="1"/>
          <p:nvPr/>
        </p:nvSpPr>
        <p:spPr>
          <a:xfrm>
            <a:off x="8293608" y="3959352"/>
            <a:ext cx="2971800" cy="1005840"/>
          </a:xfrm>
          <a:prstGeom prst="rect">
            <a:avLst/>
          </a:prstGeom>
          <a:noFill/>
        </p:spPr>
        <p:txBody>
          <a:bodyPr wrap="square">
            <a:spAutoFit/>
          </a:bodyPr>
          <a:lstStyle/>
          <a:p>
            <a:pPr>
              <a:defRPr sz="1100">
                <a:solidFill>
                  <a:srgbClr val="232B34"/>
                </a:solidFill>
                <a:latin typeface="Aptos"/>
              </a:defRPr>
            </a:pPr>
            <a:r>
              <a:t>Authoritative SharePoint metadata should not be overwritten by AI inference. Conflicts should be flagged for review.</a:t>
            </a:r>
          </a:p>
        </p:txBody>
      </p:sp>
      <p:sp>
        <p:nvSpPr>
          <p:cNvPr id="24" name="Rectangle 23"/>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6" name="TextBox 25"/>
          <p:cNvSpPr txBox="1"/>
          <p:nvPr/>
        </p:nvSpPr>
        <p:spPr>
          <a:xfrm>
            <a:off x="11064240" y="6592824"/>
            <a:ext cx="502920" cy="182880"/>
          </a:xfrm>
          <a:prstGeom prst="rect">
            <a:avLst/>
          </a:prstGeom>
          <a:noFill/>
        </p:spPr>
        <p:txBody>
          <a:bodyPr wrap="none">
            <a:spAutoFit/>
          </a:bodyPr>
          <a:lstStyle/>
          <a:p>
            <a:pPr algn="r"/>
            <a:r>
              <a:rPr sz="800">
                <a:solidFill>
                  <a:srgbClr val="FFFFFF"/>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How Agents 1 &amp; 2 reduce downstream hallucination risk</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They improve the quality and structure of evidence before the model is asked to answer.</a:t>
            </a:r>
          </a:p>
        </p:txBody>
      </p:sp>
      <p:sp>
        <p:nvSpPr>
          <p:cNvPr id="5" name="Rounded Rectangle 4"/>
          <p:cNvSpPr/>
          <p:nvPr/>
        </p:nvSpPr>
        <p:spPr>
          <a:xfrm>
            <a:off x="731520" y="1280160"/>
            <a:ext cx="2926080" cy="329184"/>
          </a:xfrm>
          <a:prstGeom prst="round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RISK SOURCE</a:t>
            </a:r>
          </a:p>
        </p:txBody>
      </p:sp>
      <p:sp>
        <p:nvSpPr>
          <p:cNvPr id="6" name="Rounded Rectangle 5"/>
          <p:cNvSpPr/>
          <p:nvPr/>
        </p:nvSpPr>
        <p:spPr>
          <a:xfrm>
            <a:off x="4617720" y="1280160"/>
            <a:ext cx="2926080" cy="329184"/>
          </a:xfrm>
          <a:prstGeom prst="round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CONTROL</a:t>
            </a:r>
          </a:p>
        </p:txBody>
      </p:sp>
      <p:sp>
        <p:nvSpPr>
          <p:cNvPr id="7" name="Rounded Rectangle 6"/>
          <p:cNvSpPr/>
          <p:nvPr/>
        </p:nvSpPr>
        <p:spPr>
          <a:xfrm>
            <a:off x="8503920" y="1280160"/>
            <a:ext cx="2926080" cy="329184"/>
          </a:xfrm>
          <a:prstGeom prst="round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RESULT</a:t>
            </a:r>
          </a:p>
        </p:txBody>
      </p:sp>
      <p:sp>
        <p:nvSpPr>
          <p:cNvPr id="8" name="Rounded Rectangle 7"/>
          <p:cNvSpPr/>
          <p:nvPr/>
        </p:nvSpPr>
        <p:spPr>
          <a:xfrm>
            <a:off x="731520" y="178308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5943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20240"/>
            <a:ext cx="2578608" cy="347472"/>
          </a:xfrm>
          <a:prstGeom prst="rect">
            <a:avLst/>
          </a:prstGeom>
          <a:noFill/>
        </p:spPr>
        <p:txBody>
          <a:bodyPr wrap="none">
            <a:spAutoFit/>
          </a:bodyPr>
          <a:lstStyle/>
          <a:p>
            <a:r>
              <a:rPr sz="1150" b="1">
                <a:solidFill>
                  <a:srgbClr val="142A4A"/>
                </a:solidFill>
                <a:latin typeface="Aptos"/>
              </a:rPr>
              <a:t>Noisy transcript</a:t>
            </a:r>
          </a:p>
        </p:txBody>
      </p:sp>
      <p:sp>
        <p:nvSpPr>
          <p:cNvPr id="11" name="Rounded Rectangle 10"/>
          <p:cNvSpPr/>
          <p:nvPr/>
        </p:nvSpPr>
        <p:spPr>
          <a:xfrm>
            <a:off x="4617720" y="178308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1783080"/>
            <a:ext cx="73152" cy="594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1920240"/>
            <a:ext cx="2578608" cy="347472"/>
          </a:xfrm>
          <a:prstGeom prst="rect">
            <a:avLst/>
          </a:prstGeom>
          <a:noFill/>
        </p:spPr>
        <p:txBody>
          <a:bodyPr wrap="none">
            <a:spAutoFit/>
          </a:bodyPr>
          <a:lstStyle/>
          <a:p>
            <a:r>
              <a:rPr sz="1150" b="1">
                <a:solidFill>
                  <a:srgbClr val="142A4A"/>
                </a:solidFill>
                <a:latin typeface="Aptos"/>
              </a:rPr>
              <a:t>Agent 1</a:t>
            </a:r>
          </a:p>
        </p:txBody>
      </p:sp>
      <p:sp>
        <p:nvSpPr>
          <p:cNvPr id="14" name="Rounded Rectangle 13"/>
          <p:cNvSpPr/>
          <p:nvPr/>
        </p:nvSpPr>
        <p:spPr>
          <a:xfrm>
            <a:off x="8503920" y="178308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03920" y="1783080"/>
            <a:ext cx="73152" cy="594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05088" y="1920240"/>
            <a:ext cx="2578608" cy="347472"/>
          </a:xfrm>
          <a:prstGeom prst="rect">
            <a:avLst/>
          </a:prstGeom>
          <a:noFill/>
        </p:spPr>
        <p:txBody>
          <a:bodyPr wrap="none">
            <a:spAutoFit/>
          </a:bodyPr>
          <a:lstStyle/>
          <a:p>
            <a:r>
              <a:rPr sz="1150" b="1">
                <a:solidFill>
                  <a:srgbClr val="142A4A"/>
                </a:solidFill>
                <a:latin typeface="Aptos"/>
              </a:rPr>
              <a:t>Cleaner evidence</a:t>
            </a:r>
          </a:p>
        </p:txBody>
      </p:sp>
      <p:sp>
        <p:nvSpPr>
          <p:cNvPr id="17" name="Rounded Rectangle 16"/>
          <p:cNvSpPr/>
          <p:nvPr/>
        </p:nvSpPr>
        <p:spPr>
          <a:xfrm>
            <a:off x="731520" y="260604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606040"/>
            <a:ext cx="73152" cy="5943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743200"/>
            <a:ext cx="2578608" cy="347472"/>
          </a:xfrm>
          <a:prstGeom prst="rect">
            <a:avLst/>
          </a:prstGeom>
          <a:noFill/>
        </p:spPr>
        <p:txBody>
          <a:bodyPr wrap="none">
            <a:spAutoFit/>
          </a:bodyPr>
          <a:lstStyle/>
          <a:p>
            <a:r>
              <a:rPr sz="1150" b="1">
                <a:solidFill>
                  <a:srgbClr val="142A4A"/>
                </a:solidFill>
                <a:latin typeface="Aptos"/>
              </a:rPr>
              <a:t>Business rule hidden in dialogue</a:t>
            </a:r>
          </a:p>
        </p:txBody>
      </p:sp>
      <p:sp>
        <p:nvSpPr>
          <p:cNvPr id="20" name="Rounded Rectangle 19"/>
          <p:cNvSpPr/>
          <p:nvPr/>
        </p:nvSpPr>
        <p:spPr>
          <a:xfrm>
            <a:off x="4617720" y="260604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17720" y="2606040"/>
            <a:ext cx="73152" cy="594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2743200"/>
            <a:ext cx="2578608" cy="347472"/>
          </a:xfrm>
          <a:prstGeom prst="rect">
            <a:avLst/>
          </a:prstGeom>
          <a:noFill/>
        </p:spPr>
        <p:txBody>
          <a:bodyPr wrap="none">
            <a:spAutoFit/>
          </a:bodyPr>
          <a:lstStyle/>
          <a:p>
            <a:r>
              <a:rPr sz="1150" b="1">
                <a:solidFill>
                  <a:srgbClr val="142A4A"/>
                </a:solidFill>
                <a:latin typeface="Aptos"/>
              </a:rPr>
              <a:t>Agent 2</a:t>
            </a:r>
          </a:p>
        </p:txBody>
      </p:sp>
      <p:sp>
        <p:nvSpPr>
          <p:cNvPr id="23" name="Rounded Rectangle 22"/>
          <p:cNvSpPr/>
          <p:nvPr/>
        </p:nvSpPr>
        <p:spPr>
          <a:xfrm>
            <a:off x="8503920" y="260604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3920" y="2606040"/>
            <a:ext cx="73152" cy="594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05088" y="2743200"/>
            <a:ext cx="2578608" cy="347472"/>
          </a:xfrm>
          <a:prstGeom prst="rect">
            <a:avLst/>
          </a:prstGeom>
          <a:noFill/>
        </p:spPr>
        <p:txBody>
          <a:bodyPr wrap="none">
            <a:spAutoFit/>
          </a:bodyPr>
          <a:lstStyle/>
          <a:p>
            <a:r>
              <a:rPr sz="1150" b="1">
                <a:solidFill>
                  <a:srgbClr val="142A4A"/>
                </a:solidFill>
                <a:latin typeface="Aptos"/>
              </a:rPr>
              <a:t>Explicit rule object</a:t>
            </a:r>
          </a:p>
        </p:txBody>
      </p:sp>
      <p:sp>
        <p:nvSpPr>
          <p:cNvPr id="26" name="Rounded Rectangle 25"/>
          <p:cNvSpPr/>
          <p:nvPr/>
        </p:nvSpPr>
        <p:spPr>
          <a:xfrm>
            <a:off x="731520" y="342900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429000"/>
            <a:ext cx="73152" cy="5943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3566160"/>
            <a:ext cx="2578608" cy="347472"/>
          </a:xfrm>
          <a:prstGeom prst="rect">
            <a:avLst/>
          </a:prstGeom>
          <a:noFill/>
        </p:spPr>
        <p:txBody>
          <a:bodyPr wrap="none">
            <a:spAutoFit/>
          </a:bodyPr>
          <a:lstStyle/>
          <a:p>
            <a:r>
              <a:rPr sz="1150" b="1">
                <a:solidFill>
                  <a:srgbClr val="142A4A"/>
                </a:solidFill>
                <a:latin typeface="Aptos"/>
              </a:rPr>
              <a:t>Question confused with decision</a:t>
            </a:r>
          </a:p>
        </p:txBody>
      </p:sp>
      <p:sp>
        <p:nvSpPr>
          <p:cNvPr id="29" name="Rounded Rectangle 28"/>
          <p:cNvSpPr/>
          <p:nvPr/>
        </p:nvSpPr>
        <p:spPr>
          <a:xfrm>
            <a:off x="4617720" y="342900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17720" y="3429000"/>
            <a:ext cx="73152" cy="594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18888" y="3566160"/>
            <a:ext cx="2578608" cy="347472"/>
          </a:xfrm>
          <a:prstGeom prst="rect">
            <a:avLst/>
          </a:prstGeom>
          <a:noFill/>
        </p:spPr>
        <p:txBody>
          <a:bodyPr wrap="none">
            <a:spAutoFit/>
          </a:bodyPr>
          <a:lstStyle/>
          <a:p>
            <a:r>
              <a:rPr sz="1150" b="1">
                <a:solidFill>
                  <a:srgbClr val="142A4A"/>
                </a:solidFill>
                <a:latin typeface="Aptos"/>
              </a:rPr>
              <a:t>Agent 2</a:t>
            </a:r>
          </a:p>
        </p:txBody>
      </p:sp>
      <p:sp>
        <p:nvSpPr>
          <p:cNvPr id="32" name="Rounded Rectangle 31"/>
          <p:cNvSpPr/>
          <p:nvPr/>
        </p:nvSpPr>
        <p:spPr>
          <a:xfrm>
            <a:off x="8503920" y="342900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20" y="3429000"/>
            <a:ext cx="73152" cy="594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05088" y="3566160"/>
            <a:ext cx="2578608" cy="347472"/>
          </a:xfrm>
          <a:prstGeom prst="rect">
            <a:avLst/>
          </a:prstGeom>
          <a:noFill/>
        </p:spPr>
        <p:txBody>
          <a:bodyPr wrap="none">
            <a:spAutoFit/>
          </a:bodyPr>
          <a:lstStyle/>
          <a:p>
            <a:r>
              <a:rPr sz="1150" b="1">
                <a:solidFill>
                  <a:srgbClr val="142A4A"/>
                </a:solidFill>
                <a:latin typeface="Aptos"/>
              </a:rPr>
              <a:t>Decision / open question separation</a:t>
            </a:r>
          </a:p>
        </p:txBody>
      </p:sp>
      <p:sp>
        <p:nvSpPr>
          <p:cNvPr id="35" name="Rounded Rectangle 34"/>
          <p:cNvSpPr/>
          <p:nvPr/>
        </p:nvSpPr>
        <p:spPr>
          <a:xfrm>
            <a:off x="731520" y="425196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4251960"/>
            <a:ext cx="73152" cy="5943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 y="4389120"/>
            <a:ext cx="2578608" cy="347472"/>
          </a:xfrm>
          <a:prstGeom prst="rect">
            <a:avLst/>
          </a:prstGeom>
          <a:noFill/>
        </p:spPr>
        <p:txBody>
          <a:bodyPr wrap="none">
            <a:spAutoFit/>
          </a:bodyPr>
          <a:lstStyle/>
          <a:p>
            <a:r>
              <a:rPr sz="1150" b="1">
                <a:solidFill>
                  <a:srgbClr val="142A4A"/>
                </a:solidFill>
                <a:latin typeface="Aptos"/>
              </a:rPr>
              <a:t>Old + current content mixed</a:t>
            </a:r>
          </a:p>
        </p:txBody>
      </p:sp>
      <p:sp>
        <p:nvSpPr>
          <p:cNvPr id="38" name="Rounded Rectangle 37"/>
          <p:cNvSpPr/>
          <p:nvPr/>
        </p:nvSpPr>
        <p:spPr>
          <a:xfrm>
            <a:off x="4617720" y="425196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17720" y="4251960"/>
            <a:ext cx="73152" cy="594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18888" y="4389120"/>
            <a:ext cx="2578608" cy="347472"/>
          </a:xfrm>
          <a:prstGeom prst="rect">
            <a:avLst/>
          </a:prstGeom>
          <a:noFill/>
        </p:spPr>
        <p:txBody>
          <a:bodyPr wrap="none">
            <a:spAutoFit/>
          </a:bodyPr>
          <a:lstStyle/>
          <a:p>
            <a:r>
              <a:rPr sz="1150" b="1">
                <a:solidFill>
                  <a:srgbClr val="142A4A"/>
                </a:solidFill>
                <a:latin typeface="Aptos"/>
              </a:rPr>
              <a:t>Future Agent 3</a:t>
            </a:r>
          </a:p>
        </p:txBody>
      </p:sp>
      <p:sp>
        <p:nvSpPr>
          <p:cNvPr id="41" name="Rounded Rectangle 40"/>
          <p:cNvSpPr/>
          <p:nvPr/>
        </p:nvSpPr>
        <p:spPr>
          <a:xfrm>
            <a:off x="8503920" y="425196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03920" y="4251960"/>
            <a:ext cx="73152" cy="594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05088" y="4389120"/>
            <a:ext cx="2578608" cy="347472"/>
          </a:xfrm>
          <a:prstGeom prst="rect">
            <a:avLst/>
          </a:prstGeom>
          <a:noFill/>
        </p:spPr>
        <p:txBody>
          <a:bodyPr wrap="none">
            <a:spAutoFit/>
          </a:bodyPr>
          <a:lstStyle/>
          <a:p>
            <a:r>
              <a:rPr sz="1150" b="1">
                <a:solidFill>
                  <a:srgbClr val="142A4A"/>
                </a:solidFill>
                <a:latin typeface="Aptos"/>
              </a:rPr>
              <a:t>Metadata filtering</a:t>
            </a:r>
          </a:p>
        </p:txBody>
      </p:sp>
      <p:sp>
        <p:nvSpPr>
          <p:cNvPr id="44" name="Rounded Rectangle 43"/>
          <p:cNvSpPr/>
          <p:nvPr/>
        </p:nvSpPr>
        <p:spPr>
          <a:xfrm>
            <a:off x="731520" y="507492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5074920"/>
            <a:ext cx="73152" cy="59436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5212080"/>
            <a:ext cx="2578608" cy="347472"/>
          </a:xfrm>
          <a:prstGeom prst="rect">
            <a:avLst/>
          </a:prstGeom>
          <a:noFill/>
        </p:spPr>
        <p:txBody>
          <a:bodyPr wrap="none">
            <a:spAutoFit/>
          </a:bodyPr>
          <a:lstStyle/>
          <a:p>
            <a:r>
              <a:rPr sz="1150" b="1">
                <a:solidFill>
                  <a:srgbClr val="142A4A"/>
                </a:solidFill>
                <a:latin typeface="Aptos"/>
              </a:rPr>
              <a:t>Answer cannot be traced</a:t>
            </a:r>
          </a:p>
        </p:txBody>
      </p:sp>
      <p:sp>
        <p:nvSpPr>
          <p:cNvPr id="47" name="Rounded Rectangle 46"/>
          <p:cNvSpPr/>
          <p:nvPr/>
        </p:nvSpPr>
        <p:spPr>
          <a:xfrm>
            <a:off x="4617720" y="507492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617720" y="5074920"/>
            <a:ext cx="73152" cy="594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18888" y="5212080"/>
            <a:ext cx="2578608" cy="347472"/>
          </a:xfrm>
          <a:prstGeom prst="rect">
            <a:avLst/>
          </a:prstGeom>
          <a:noFill/>
        </p:spPr>
        <p:txBody>
          <a:bodyPr wrap="none">
            <a:spAutoFit/>
          </a:bodyPr>
          <a:lstStyle/>
          <a:p>
            <a:r>
              <a:rPr sz="1150" b="1">
                <a:solidFill>
                  <a:srgbClr val="142A4A"/>
                </a:solidFill>
                <a:latin typeface="Aptos"/>
              </a:rPr>
              <a:t>Lineage + golden source</a:t>
            </a:r>
          </a:p>
        </p:txBody>
      </p:sp>
      <p:sp>
        <p:nvSpPr>
          <p:cNvPr id="50" name="Rounded Rectangle 49"/>
          <p:cNvSpPr/>
          <p:nvPr/>
        </p:nvSpPr>
        <p:spPr>
          <a:xfrm>
            <a:off x="8503920" y="5074920"/>
            <a:ext cx="2926080" cy="594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503920" y="5074920"/>
            <a:ext cx="73152" cy="594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05088" y="5212080"/>
            <a:ext cx="2578608" cy="347472"/>
          </a:xfrm>
          <a:prstGeom prst="rect">
            <a:avLst/>
          </a:prstGeom>
          <a:noFill/>
        </p:spPr>
        <p:txBody>
          <a:bodyPr wrap="none">
            <a:spAutoFit/>
          </a:bodyPr>
          <a:lstStyle/>
          <a:p>
            <a:r>
              <a:rPr sz="1150" b="1">
                <a:solidFill>
                  <a:srgbClr val="142A4A"/>
                </a:solidFill>
                <a:latin typeface="Aptos"/>
              </a:rPr>
              <a:t>Source provenance</a:t>
            </a:r>
          </a:p>
        </p:txBody>
      </p:sp>
      <p:sp>
        <p:nvSpPr>
          <p:cNvPr id="53" name="Rectangle 52"/>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55" name="TextBox 54"/>
          <p:cNvSpPr txBox="1"/>
          <p:nvPr/>
        </p:nvSpPr>
        <p:spPr>
          <a:xfrm>
            <a:off x="11064240" y="6592824"/>
            <a:ext cx="502920" cy="182880"/>
          </a:xfrm>
          <a:prstGeom prst="rect">
            <a:avLst/>
          </a:prstGeom>
          <a:noFill/>
        </p:spPr>
        <p:txBody>
          <a:bodyPr wrap="none">
            <a:spAutoFit/>
          </a:bodyPr>
          <a:lstStyle/>
          <a:p>
            <a:pPr algn="r"/>
            <a:r>
              <a:rPr sz="800">
                <a:solidFill>
                  <a:srgbClr val="FFFFFF"/>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Operating model and governance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Automation at scale, with explicit ownership and traceability.</a:t>
            </a:r>
          </a:p>
        </p:txBody>
      </p:sp>
      <p:sp>
        <p:nvSpPr>
          <p:cNvPr id="5" name="Rounded Rectangle 4"/>
          <p:cNvSpPr/>
          <p:nvPr/>
        </p:nvSpPr>
        <p:spPr>
          <a:xfrm>
            <a:off x="640080" y="1325880"/>
            <a:ext cx="3429000" cy="43891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438912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63039"/>
            <a:ext cx="3081528" cy="347472"/>
          </a:xfrm>
          <a:prstGeom prst="rect">
            <a:avLst/>
          </a:prstGeom>
          <a:noFill/>
        </p:spPr>
        <p:txBody>
          <a:bodyPr wrap="none">
            <a:spAutoFit/>
          </a:bodyPr>
          <a:lstStyle/>
          <a:p>
            <a:r>
              <a:rPr sz="1500" b="1">
                <a:solidFill>
                  <a:srgbClr val="142A4A"/>
                </a:solidFill>
                <a:latin typeface="Aptos"/>
              </a:rPr>
              <a:t>Source owner</a:t>
            </a:r>
          </a:p>
        </p:txBody>
      </p:sp>
      <p:sp>
        <p:nvSpPr>
          <p:cNvPr id="8" name="TextBox 7"/>
          <p:cNvSpPr txBox="1"/>
          <p:nvPr/>
        </p:nvSpPr>
        <p:spPr>
          <a:xfrm>
            <a:off x="841247" y="1856231"/>
            <a:ext cx="3063240" cy="3749039"/>
          </a:xfrm>
          <a:prstGeom prst="rect">
            <a:avLst/>
          </a:prstGeom>
          <a:noFill/>
        </p:spPr>
        <p:txBody>
          <a:bodyPr wrap="square">
            <a:spAutoFit/>
          </a:bodyPr>
          <a:lstStyle/>
          <a:p>
            <a:pPr>
              <a:defRPr sz="1200">
                <a:solidFill>
                  <a:srgbClr val="232B34"/>
                </a:solidFill>
                <a:latin typeface="Aptos"/>
              </a:defRPr>
            </a:pPr>
            <a:r>
              <a:t>Product Owner / Meeting Owner</a:t>
            </a:r>
            <a:br/>
            <a:br/>
            <a:r>
              <a:t>Responsible for:</a:t>
            </a:r>
            <a:br/>
            <a:r>
              <a:t>• Correct meeting context</a:t>
            </a:r>
            <a:br/>
            <a:r>
              <a:t>• Source classification</a:t>
            </a:r>
            <a:br/>
            <a:r>
              <a:t>• Appropriate SharePoint metadata</a:t>
            </a:r>
            <a:br/>
            <a:r>
              <a:t>• Confirming high-impact decisions</a:t>
            </a:r>
          </a:p>
        </p:txBody>
      </p:sp>
      <p:sp>
        <p:nvSpPr>
          <p:cNvPr id="9" name="Rounded Rectangle 8"/>
          <p:cNvSpPr/>
          <p:nvPr/>
        </p:nvSpPr>
        <p:spPr>
          <a:xfrm>
            <a:off x="4389120" y="1325880"/>
            <a:ext cx="3429000" cy="43891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25880"/>
            <a:ext cx="73152" cy="438912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63039"/>
            <a:ext cx="3081528" cy="347472"/>
          </a:xfrm>
          <a:prstGeom prst="rect">
            <a:avLst/>
          </a:prstGeom>
          <a:noFill/>
        </p:spPr>
        <p:txBody>
          <a:bodyPr wrap="none">
            <a:spAutoFit/>
          </a:bodyPr>
          <a:lstStyle/>
          <a:p>
            <a:r>
              <a:rPr sz="1500" b="1">
                <a:solidFill>
                  <a:srgbClr val="142A4A"/>
                </a:solidFill>
                <a:latin typeface="Aptos"/>
              </a:rPr>
              <a:t>Knowledge reviewer</a:t>
            </a:r>
          </a:p>
        </p:txBody>
      </p:sp>
      <p:sp>
        <p:nvSpPr>
          <p:cNvPr id="12" name="TextBox 11"/>
          <p:cNvSpPr txBox="1"/>
          <p:nvPr/>
        </p:nvSpPr>
        <p:spPr>
          <a:xfrm>
            <a:off x="4590288" y="1856231"/>
            <a:ext cx="3063240" cy="3749039"/>
          </a:xfrm>
          <a:prstGeom prst="rect">
            <a:avLst/>
          </a:prstGeom>
          <a:noFill/>
        </p:spPr>
        <p:txBody>
          <a:bodyPr wrap="square">
            <a:spAutoFit/>
          </a:bodyPr>
          <a:lstStyle/>
          <a:p>
            <a:pPr>
              <a:defRPr sz="1200">
                <a:solidFill>
                  <a:srgbClr val="232B34"/>
                </a:solidFill>
                <a:latin typeface="Aptos"/>
              </a:defRPr>
            </a:pPr>
            <a:r>
              <a:t>SME / BA / Architect / Test lead</a:t>
            </a:r>
            <a:br/>
            <a:br/>
            <a:r>
              <a:t>Responsible for:</a:t>
            </a:r>
            <a:br/>
            <a:r>
              <a:t>• Validate high-risk Agent 1 output</a:t>
            </a:r>
            <a:br/>
            <a:r>
              <a:t>• Validate Agent 2 decisions/rules</a:t>
            </a:r>
            <a:br/>
            <a:r>
              <a:t>• Resolve ambiguity</a:t>
            </a:r>
            <a:br/>
            <a:r>
              <a:t>• Approve publication</a:t>
            </a:r>
          </a:p>
        </p:txBody>
      </p:sp>
      <p:sp>
        <p:nvSpPr>
          <p:cNvPr id="13" name="Rounded Rectangle 12"/>
          <p:cNvSpPr/>
          <p:nvPr/>
        </p:nvSpPr>
        <p:spPr>
          <a:xfrm>
            <a:off x="8138160" y="1325880"/>
            <a:ext cx="3429000" cy="438912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325880"/>
            <a:ext cx="73152" cy="438912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463039"/>
            <a:ext cx="3081528" cy="347472"/>
          </a:xfrm>
          <a:prstGeom prst="rect">
            <a:avLst/>
          </a:prstGeom>
          <a:noFill/>
        </p:spPr>
        <p:txBody>
          <a:bodyPr wrap="none">
            <a:spAutoFit/>
          </a:bodyPr>
          <a:lstStyle/>
          <a:p>
            <a:r>
              <a:rPr sz="1500" b="1">
                <a:solidFill>
                  <a:srgbClr val="142A4A"/>
                </a:solidFill>
                <a:latin typeface="Aptos"/>
              </a:rPr>
              <a:t>Platform / AI team</a:t>
            </a:r>
          </a:p>
        </p:txBody>
      </p:sp>
      <p:sp>
        <p:nvSpPr>
          <p:cNvPr id="16" name="TextBox 15"/>
          <p:cNvSpPr txBox="1"/>
          <p:nvPr/>
        </p:nvSpPr>
        <p:spPr>
          <a:xfrm>
            <a:off x="8339328" y="1856231"/>
            <a:ext cx="3063240" cy="3749039"/>
          </a:xfrm>
          <a:prstGeom prst="rect">
            <a:avLst/>
          </a:prstGeom>
          <a:noFill/>
        </p:spPr>
        <p:txBody>
          <a:bodyPr wrap="square">
            <a:spAutoFit/>
          </a:bodyPr>
          <a:lstStyle/>
          <a:p>
            <a:pPr>
              <a:defRPr sz="1200">
                <a:solidFill>
                  <a:srgbClr val="232B34"/>
                </a:solidFill>
                <a:latin typeface="Aptos"/>
              </a:defRPr>
            </a:pPr>
            <a:r>
              <a:t>Responsible for:</a:t>
            </a:r>
            <a:br/>
            <a:r>
              <a:t>• Agent prompts and schemas</a:t>
            </a:r>
            <a:br/>
            <a:r>
              <a:t>• Evaluation and quality metrics</a:t>
            </a:r>
            <a:br/>
            <a:r>
              <a:t>• Lineage and versioning</a:t>
            </a:r>
            <a:br/>
            <a:r>
              <a:t>• GAIP integration</a:t>
            </a:r>
            <a:br/>
            <a:r>
              <a:t>• Monitoring and feedback loops</a:t>
            </a:r>
          </a:p>
        </p:txBody>
      </p:sp>
      <p:sp>
        <p:nvSpPr>
          <p:cNvPr id="17" name="Rounded Rectangle 16"/>
          <p:cNvSpPr/>
          <p:nvPr/>
        </p:nvSpPr>
        <p:spPr>
          <a:xfrm>
            <a:off x="4023360" y="5989320"/>
            <a:ext cx="4114800" cy="329184"/>
          </a:xfrm>
          <a:prstGeom prst="round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GOVERNANCE PRINCIPLE</a:t>
            </a:r>
          </a:p>
        </p:txBody>
      </p:sp>
      <p:sp>
        <p:nvSpPr>
          <p:cNvPr id="18" name="Rectangle 17"/>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20" name="TextBox 19"/>
          <p:cNvSpPr txBox="1"/>
          <p:nvPr/>
        </p:nvSpPr>
        <p:spPr>
          <a:xfrm>
            <a:off x="11064240" y="6592824"/>
            <a:ext cx="502920" cy="182880"/>
          </a:xfrm>
          <a:prstGeom prst="rect">
            <a:avLst/>
          </a:prstGeom>
          <a:noFill/>
        </p:spPr>
        <p:txBody>
          <a:bodyPr wrap="none">
            <a:spAutoFit/>
          </a:bodyPr>
          <a:lstStyle/>
          <a:p>
            <a:pPr algn="r"/>
            <a:r>
              <a:rPr sz="800">
                <a:solidFill>
                  <a:srgbClr val="FFFFFF"/>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Pragmatic implementation roadmap</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Start with a narrow, measurable path and expand once quality is proven.</a:t>
            </a:r>
          </a:p>
        </p:txBody>
      </p:sp>
      <p:sp>
        <p:nvSpPr>
          <p:cNvPr id="5" name="Rounded Rectangle 4"/>
          <p:cNvSpPr/>
          <p:nvPr/>
        </p:nvSpPr>
        <p:spPr>
          <a:xfrm>
            <a:off x="502920"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73152" cy="388620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554480"/>
            <a:ext cx="1344168" cy="347472"/>
          </a:xfrm>
          <a:prstGeom prst="rect">
            <a:avLst/>
          </a:prstGeom>
          <a:noFill/>
        </p:spPr>
        <p:txBody>
          <a:bodyPr wrap="none">
            <a:spAutoFit/>
          </a:bodyPr>
          <a:lstStyle/>
          <a:p>
            <a:r>
              <a:rPr sz="1250" b="1">
                <a:solidFill>
                  <a:srgbClr val="142A4A"/>
                </a:solidFill>
                <a:latin typeface="Aptos"/>
              </a:rPr>
              <a:t>Phase 1</a:t>
            </a:r>
          </a:p>
        </p:txBody>
      </p:sp>
      <p:sp>
        <p:nvSpPr>
          <p:cNvPr id="8" name="TextBox 7"/>
          <p:cNvSpPr txBox="1"/>
          <p:nvPr/>
        </p:nvSpPr>
        <p:spPr>
          <a:xfrm>
            <a:off x="704088" y="1947672"/>
            <a:ext cx="1325880" cy="3246120"/>
          </a:xfrm>
          <a:prstGeom prst="rect">
            <a:avLst/>
          </a:prstGeom>
          <a:noFill/>
        </p:spPr>
        <p:txBody>
          <a:bodyPr wrap="square">
            <a:spAutoFit/>
          </a:bodyPr>
          <a:lstStyle/>
          <a:p>
            <a:pPr>
              <a:defRPr sz="1019">
                <a:solidFill>
                  <a:srgbClr val="232B34"/>
                </a:solidFill>
                <a:latin typeface="Aptos"/>
              </a:defRPr>
            </a:pPr>
            <a:r>
              <a:t>Capture</a:t>
            </a:r>
            <a:br/>
            <a:br/>
            <a:r>
              <a:t>Select 1–2 SDLC use cases; establish SharePoint library, metadata and transcript source.</a:t>
            </a:r>
          </a:p>
        </p:txBody>
      </p:sp>
      <p:cxnSp>
        <p:nvCxnSpPr>
          <p:cNvPr id="9" name="Connector 8"/>
          <p:cNvCxnSpPr/>
          <p:nvPr/>
        </p:nvCxnSpPr>
        <p:spPr>
          <a:xfrm>
            <a:off x="2194560" y="3364992"/>
            <a:ext cx="201168" cy="0"/>
          </a:xfrm>
          <a:prstGeom prst="line">
            <a:avLst/>
          </a:prstGeom>
          <a:ln w="15240">
            <a:solidFill>
              <a:srgbClr val="DCE3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41448"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41448" y="1417320"/>
            <a:ext cx="73152" cy="38862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42616" y="1554480"/>
            <a:ext cx="1344168" cy="347472"/>
          </a:xfrm>
          <a:prstGeom prst="rect">
            <a:avLst/>
          </a:prstGeom>
          <a:noFill/>
        </p:spPr>
        <p:txBody>
          <a:bodyPr wrap="none">
            <a:spAutoFit/>
          </a:bodyPr>
          <a:lstStyle/>
          <a:p>
            <a:r>
              <a:rPr sz="1250" b="1">
                <a:solidFill>
                  <a:srgbClr val="142A4A"/>
                </a:solidFill>
                <a:latin typeface="Aptos"/>
              </a:rPr>
              <a:t>Phase 2</a:t>
            </a:r>
          </a:p>
        </p:txBody>
      </p:sp>
      <p:sp>
        <p:nvSpPr>
          <p:cNvPr id="13" name="TextBox 12"/>
          <p:cNvSpPr txBox="1"/>
          <p:nvPr/>
        </p:nvSpPr>
        <p:spPr>
          <a:xfrm>
            <a:off x="2642616" y="1947672"/>
            <a:ext cx="1325880" cy="3246120"/>
          </a:xfrm>
          <a:prstGeom prst="rect">
            <a:avLst/>
          </a:prstGeom>
          <a:noFill/>
        </p:spPr>
        <p:txBody>
          <a:bodyPr wrap="square">
            <a:spAutoFit/>
          </a:bodyPr>
          <a:lstStyle/>
          <a:p>
            <a:pPr>
              <a:defRPr sz="1019">
                <a:solidFill>
                  <a:srgbClr val="232B34"/>
                </a:solidFill>
                <a:latin typeface="Aptos"/>
              </a:defRPr>
            </a:pPr>
            <a:r>
              <a:t>Agent 1</a:t>
            </a:r>
            <a:br/>
            <a:br/>
            <a:r>
              <a:t>Normalize VTT; add validation and provenance; measure transcript-quality improvement.</a:t>
            </a:r>
          </a:p>
        </p:txBody>
      </p:sp>
      <p:cxnSp>
        <p:nvCxnSpPr>
          <p:cNvPr id="14" name="Connector 13"/>
          <p:cNvCxnSpPr/>
          <p:nvPr/>
        </p:nvCxnSpPr>
        <p:spPr>
          <a:xfrm>
            <a:off x="4133087" y="3364992"/>
            <a:ext cx="201169" cy="0"/>
          </a:xfrm>
          <a:prstGeom prst="line">
            <a:avLst/>
          </a:prstGeom>
          <a:ln w="15240">
            <a:solidFill>
              <a:srgbClr val="DCE3E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79976"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9976" y="1417320"/>
            <a:ext cx="73152" cy="388620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1554480"/>
            <a:ext cx="1344168" cy="347472"/>
          </a:xfrm>
          <a:prstGeom prst="rect">
            <a:avLst/>
          </a:prstGeom>
          <a:noFill/>
        </p:spPr>
        <p:txBody>
          <a:bodyPr wrap="none">
            <a:spAutoFit/>
          </a:bodyPr>
          <a:lstStyle/>
          <a:p>
            <a:r>
              <a:rPr sz="1250" b="1">
                <a:solidFill>
                  <a:srgbClr val="142A4A"/>
                </a:solidFill>
                <a:latin typeface="Aptos"/>
              </a:rPr>
              <a:t>Phase 3</a:t>
            </a:r>
          </a:p>
        </p:txBody>
      </p:sp>
      <p:sp>
        <p:nvSpPr>
          <p:cNvPr id="18" name="TextBox 17"/>
          <p:cNvSpPr txBox="1"/>
          <p:nvPr/>
        </p:nvSpPr>
        <p:spPr>
          <a:xfrm>
            <a:off x="4581144" y="1947672"/>
            <a:ext cx="1325880" cy="3246120"/>
          </a:xfrm>
          <a:prstGeom prst="rect">
            <a:avLst/>
          </a:prstGeom>
          <a:noFill/>
        </p:spPr>
        <p:txBody>
          <a:bodyPr wrap="square">
            <a:spAutoFit/>
          </a:bodyPr>
          <a:lstStyle/>
          <a:p>
            <a:pPr>
              <a:defRPr sz="1019">
                <a:solidFill>
                  <a:srgbClr val="232B34"/>
                </a:solidFill>
                <a:latin typeface="Aptos"/>
              </a:defRPr>
            </a:pPr>
            <a:r>
              <a:t>Agent 2</a:t>
            </a:r>
            <a:br/>
            <a:br/>
            <a:r>
              <a:t>Create schemas for requirements + technical design; validate with SMEs.</a:t>
            </a:r>
          </a:p>
        </p:txBody>
      </p:sp>
      <p:cxnSp>
        <p:nvCxnSpPr>
          <p:cNvPr id="19" name="Connector 18"/>
          <p:cNvCxnSpPr/>
          <p:nvPr/>
        </p:nvCxnSpPr>
        <p:spPr>
          <a:xfrm>
            <a:off x="6071616" y="3364992"/>
            <a:ext cx="201167" cy="0"/>
          </a:xfrm>
          <a:prstGeom prst="line">
            <a:avLst/>
          </a:prstGeom>
          <a:ln w="15240">
            <a:solidFill>
              <a:srgbClr val="DCE3E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18504"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18504" y="1417320"/>
            <a:ext cx="73152" cy="388620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1554480"/>
            <a:ext cx="1344168" cy="347472"/>
          </a:xfrm>
          <a:prstGeom prst="rect">
            <a:avLst/>
          </a:prstGeom>
          <a:noFill/>
        </p:spPr>
        <p:txBody>
          <a:bodyPr wrap="none">
            <a:spAutoFit/>
          </a:bodyPr>
          <a:lstStyle/>
          <a:p>
            <a:r>
              <a:rPr sz="1250" b="1">
                <a:solidFill>
                  <a:srgbClr val="142A4A"/>
                </a:solidFill>
                <a:latin typeface="Aptos"/>
              </a:rPr>
              <a:t>Phase 4</a:t>
            </a:r>
          </a:p>
        </p:txBody>
      </p:sp>
      <p:sp>
        <p:nvSpPr>
          <p:cNvPr id="23" name="TextBox 22"/>
          <p:cNvSpPr txBox="1"/>
          <p:nvPr/>
        </p:nvSpPr>
        <p:spPr>
          <a:xfrm>
            <a:off x="6519672" y="1947672"/>
            <a:ext cx="1325880" cy="3246120"/>
          </a:xfrm>
          <a:prstGeom prst="rect">
            <a:avLst/>
          </a:prstGeom>
          <a:noFill/>
        </p:spPr>
        <p:txBody>
          <a:bodyPr wrap="square">
            <a:spAutoFit/>
          </a:bodyPr>
          <a:lstStyle/>
          <a:p>
            <a:pPr>
              <a:defRPr sz="1019">
                <a:solidFill>
                  <a:srgbClr val="232B34"/>
                </a:solidFill>
                <a:latin typeface="Aptos"/>
              </a:defRPr>
            </a:pPr>
            <a:r>
              <a:t>GAIP</a:t>
            </a:r>
            <a:br/>
            <a:br/>
            <a:r>
              <a:t>Ingest approved Agent 2 output into existing RAG pipeline; measure retrieval quality.</a:t>
            </a:r>
          </a:p>
        </p:txBody>
      </p:sp>
      <p:cxnSp>
        <p:nvCxnSpPr>
          <p:cNvPr id="24" name="Connector 23"/>
          <p:cNvCxnSpPr/>
          <p:nvPr/>
        </p:nvCxnSpPr>
        <p:spPr>
          <a:xfrm>
            <a:off x="8010144" y="3364992"/>
            <a:ext cx="201168" cy="0"/>
          </a:xfrm>
          <a:prstGeom prst="line">
            <a:avLst/>
          </a:prstGeom>
          <a:ln w="15240">
            <a:solidFill>
              <a:srgbClr val="DCE3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257032"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57032" y="1417320"/>
            <a:ext cx="73152" cy="388620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1554480"/>
            <a:ext cx="1344168" cy="347472"/>
          </a:xfrm>
          <a:prstGeom prst="rect">
            <a:avLst/>
          </a:prstGeom>
          <a:noFill/>
        </p:spPr>
        <p:txBody>
          <a:bodyPr wrap="none">
            <a:spAutoFit/>
          </a:bodyPr>
          <a:lstStyle/>
          <a:p>
            <a:r>
              <a:rPr sz="1250" b="1">
                <a:solidFill>
                  <a:srgbClr val="142A4A"/>
                </a:solidFill>
                <a:latin typeface="Aptos"/>
              </a:rPr>
              <a:t>Phase 5</a:t>
            </a:r>
          </a:p>
        </p:txBody>
      </p:sp>
      <p:sp>
        <p:nvSpPr>
          <p:cNvPr id="28" name="TextBox 27"/>
          <p:cNvSpPr txBox="1"/>
          <p:nvPr/>
        </p:nvSpPr>
        <p:spPr>
          <a:xfrm>
            <a:off x="8458200" y="1947672"/>
            <a:ext cx="1325880" cy="3246120"/>
          </a:xfrm>
          <a:prstGeom prst="rect">
            <a:avLst/>
          </a:prstGeom>
          <a:noFill/>
        </p:spPr>
        <p:txBody>
          <a:bodyPr wrap="square">
            <a:spAutoFit/>
          </a:bodyPr>
          <a:lstStyle/>
          <a:p>
            <a:pPr>
              <a:defRPr sz="1019">
                <a:solidFill>
                  <a:srgbClr val="232B34"/>
                </a:solidFill>
                <a:latin typeface="Aptos"/>
              </a:defRPr>
            </a:pPr>
            <a:r>
              <a:t>Graph</a:t>
            </a:r>
            <a:br/>
            <a:br/>
            <a:r>
              <a:t>Add explicit entities/relationships and golden-source lineage.</a:t>
            </a:r>
          </a:p>
        </p:txBody>
      </p:sp>
      <p:cxnSp>
        <p:nvCxnSpPr>
          <p:cNvPr id="29" name="Connector 28"/>
          <p:cNvCxnSpPr/>
          <p:nvPr/>
        </p:nvCxnSpPr>
        <p:spPr>
          <a:xfrm>
            <a:off x="9948672" y="3364992"/>
            <a:ext cx="201168" cy="0"/>
          </a:xfrm>
          <a:prstGeom prst="line">
            <a:avLst/>
          </a:prstGeom>
          <a:ln w="15240">
            <a:solidFill>
              <a:srgbClr val="DCE3E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195560" y="1417320"/>
            <a:ext cx="1691640" cy="38862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195560" y="1417320"/>
            <a:ext cx="73152" cy="388620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96728" y="1554480"/>
            <a:ext cx="1344168" cy="347472"/>
          </a:xfrm>
          <a:prstGeom prst="rect">
            <a:avLst/>
          </a:prstGeom>
          <a:noFill/>
        </p:spPr>
        <p:txBody>
          <a:bodyPr wrap="none">
            <a:spAutoFit/>
          </a:bodyPr>
          <a:lstStyle/>
          <a:p>
            <a:r>
              <a:rPr sz="1250" b="1">
                <a:solidFill>
                  <a:srgbClr val="142A4A"/>
                </a:solidFill>
                <a:latin typeface="Aptos"/>
              </a:rPr>
              <a:t>Phase 6</a:t>
            </a:r>
          </a:p>
        </p:txBody>
      </p:sp>
      <p:sp>
        <p:nvSpPr>
          <p:cNvPr id="33" name="TextBox 32"/>
          <p:cNvSpPr txBox="1"/>
          <p:nvPr/>
        </p:nvSpPr>
        <p:spPr>
          <a:xfrm>
            <a:off x="10396728" y="1947672"/>
            <a:ext cx="1325880" cy="3246120"/>
          </a:xfrm>
          <a:prstGeom prst="rect">
            <a:avLst/>
          </a:prstGeom>
          <a:noFill/>
        </p:spPr>
        <p:txBody>
          <a:bodyPr wrap="square">
            <a:spAutoFit/>
          </a:bodyPr>
          <a:lstStyle/>
          <a:p>
            <a:pPr>
              <a:defRPr sz="1019">
                <a:solidFill>
                  <a:srgbClr val="232B34"/>
                </a:solidFill>
                <a:latin typeface="Aptos"/>
              </a:defRPr>
            </a:pPr>
            <a:r>
              <a:t>Agent 3</a:t>
            </a:r>
            <a:br/>
            <a:br/>
            <a:r>
              <a:t>Add context/metadata enrichment when GAIP filtering is ready.</a:t>
            </a:r>
          </a:p>
        </p:txBody>
      </p:sp>
      <p:sp>
        <p:nvSpPr>
          <p:cNvPr id="34" name="Rectangle 33"/>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6" name="TextBox 35"/>
          <p:cNvSpPr txBox="1"/>
          <p:nvPr/>
        </p:nvSpPr>
        <p:spPr>
          <a:xfrm>
            <a:off x="11064240" y="6592824"/>
            <a:ext cx="502920" cy="182880"/>
          </a:xfrm>
          <a:prstGeom prst="rect">
            <a:avLst/>
          </a:prstGeom>
          <a:noFill/>
        </p:spPr>
        <p:txBody>
          <a:bodyPr wrap="none">
            <a:spAutoFit/>
          </a:bodyPr>
          <a:lstStyle/>
          <a:p>
            <a:pPr algn="r"/>
            <a:r>
              <a:rPr sz="800">
                <a:solidFill>
                  <a:srgbClr val="FFFFFF"/>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How to measure success</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Treat this as a knowledge-quality capability, not just an AI demo.</a:t>
            </a:r>
          </a:p>
        </p:txBody>
      </p:sp>
      <p:sp>
        <p:nvSpPr>
          <p:cNvPr id="5" name="Rounded Rectangle 4"/>
          <p:cNvSpPr/>
          <p:nvPr/>
        </p:nvSpPr>
        <p:spPr>
          <a:xfrm>
            <a:off x="640080" y="1371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82880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508760"/>
            <a:ext cx="3081528" cy="347472"/>
          </a:xfrm>
          <a:prstGeom prst="rect">
            <a:avLst/>
          </a:prstGeom>
          <a:noFill/>
        </p:spPr>
        <p:txBody>
          <a:bodyPr wrap="none">
            <a:spAutoFit/>
          </a:bodyPr>
          <a:lstStyle/>
          <a:p>
            <a:r>
              <a:rPr sz="1400" b="1">
                <a:solidFill>
                  <a:srgbClr val="142A4A"/>
                </a:solidFill>
                <a:latin typeface="Aptos"/>
              </a:rPr>
              <a:t>Transcript quality</a:t>
            </a:r>
          </a:p>
        </p:txBody>
      </p:sp>
      <p:sp>
        <p:nvSpPr>
          <p:cNvPr id="8" name="TextBox 7"/>
          <p:cNvSpPr txBox="1"/>
          <p:nvPr/>
        </p:nvSpPr>
        <p:spPr>
          <a:xfrm>
            <a:off x="841247" y="1901952"/>
            <a:ext cx="3063240" cy="1188720"/>
          </a:xfrm>
          <a:prstGeom prst="rect">
            <a:avLst/>
          </a:prstGeom>
          <a:noFill/>
        </p:spPr>
        <p:txBody>
          <a:bodyPr wrap="square">
            <a:spAutoFit/>
          </a:bodyPr>
          <a:lstStyle/>
          <a:p>
            <a:pPr>
              <a:defRPr sz="1130">
                <a:solidFill>
                  <a:srgbClr val="232B34"/>
                </a:solidFill>
                <a:latin typeface="Aptos"/>
              </a:defRPr>
            </a:pPr>
            <a:r>
              <a:t>% of high-risk transcription/normalization issues caught before Agent 2</a:t>
            </a:r>
          </a:p>
        </p:txBody>
      </p:sp>
      <p:sp>
        <p:nvSpPr>
          <p:cNvPr id="9" name="Rounded Rectangle 8"/>
          <p:cNvSpPr/>
          <p:nvPr/>
        </p:nvSpPr>
        <p:spPr>
          <a:xfrm>
            <a:off x="4434840" y="1371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371600"/>
            <a:ext cx="73152" cy="182880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508760"/>
            <a:ext cx="3081528" cy="347472"/>
          </a:xfrm>
          <a:prstGeom prst="rect">
            <a:avLst/>
          </a:prstGeom>
          <a:noFill/>
        </p:spPr>
        <p:txBody>
          <a:bodyPr wrap="none">
            <a:spAutoFit/>
          </a:bodyPr>
          <a:lstStyle/>
          <a:p>
            <a:r>
              <a:rPr sz="1400" b="1">
                <a:solidFill>
                  <a:srgbClr val="142A4A"/>
                </a:solidFill>
                <a:latin typeface="Aptos"/>
              </a:rPr>
              <a:t>Knowledge extraction</a:t>
            </a:r>
          </a:p>
        </p:txBody>
      </p:sp>
      <p:sp>
        <p:nvSpPr>
          <p:cNvPr id="12" name="TextBox 11"/>
          <p:cNvSpPr txBox="1"/>
          <p:nvPr/>
        </p:nvSpPr>
        <p:spPr>
          <a:xfrm>
            <a:off x="4636008" y="1901952"/>
            <a:ext cx="3063240" cy="1188720"/>
          </a:xfrm>
          <a:prstGeom prst="rect">
            <a:avLst/>
          </a:prstGeom>
          <a:noFill/>
        </p:spPr>
        <p:txBody>
          <a:bodyPr wrap="square">
            <a:spAutoFit/>
          </a:bodyPr>
          <a:lstStyle/>
          <a:p>
            <a:pPr>
              <a:defRPr sz="1130">
                <a:solidFill>
                  <a:srgbClr val="232B34"/>
                </a:solidFill>
                <a:latin typeface="Aptos"/>
              </a:defRPr>
            </a:pPr>
            <a:r>
              <a:t>Precision/recall of requirements, decisions, rules and acceptance criteria</a:t>
            </a:r>
          </a:p>
        </p:txBody>
      </p:sp>
      <p:sp>
        <p:nvSpPr>
          <p:cNvPr id="13" name="Rounded Rectangle 12"/>
          <p:cNvSpPr/>
          <p:nvPr/>
        </p:nvSpPr>
        <p:spPr>
          <a:xfrm>
            <a:off x="8229600" y="1371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371600"/>
            <a:ext cx="73152" cy="182880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0768" y="1508760"/>
            <a:ext cx="3081528" cy="347472"/>
          </a:xfrm>
          <a:prstGeom prst="rect">
            <a:avLst/>
          </a:prstGeom>
          <a:noFill/>
        </p:spPr>
        <p:txBody>
          <a:bodyPr wrap="none">
            <a:spAutoFit/>
          </a:bodyPr>
          <a:lstStyle/>
          <a:p>
            <a:r>
              <a:rPr sz="1400" b="1">
                <a:solidFill>
                  <a:srgbClr val="142A4A"/>
                </a:solidFill>
                <a:latin typeface="Aptos"/>
              </a:rPr>
              <a:t>Human review efficiency</a:t>
            </a:r>
          </a:p>
        </p:txBody>
      </p:sp>
      <p:sp>
        <p:nvSpPr>
          <p:cNvPr id="16" name="TextBox 15"/>
          <p:cNvSpPr txBox="1"/>
          <p:nvPr/>
        </p:nvSpPr>
        <p:spPr>
          <a:xfrm>
            <a:off x="8430768" y="1901952"/>
            <a:ext cx="3063240" cy="1188720"/>
          </a:xfrm>
          <a:prstGeom prst="rect">
            <a:avLst/>
          </a:prstGeom>
          <a:noFill/>
        </p:spPr>
        <p:txBody>
          <a:bodyPr wrap="square">
            <a:spAutoFit/>
          </a:bodyPr>
          <a:lstStyle/>
          <a:p>
            <a:pPr>
              <a:defRPr sz="1130">
                <a:solidFill>
                  <a:srgbClr val="232B34"/>
                </a:solidFill>
                <a:latin typeface="Aptos"/>
              </a:defRPr>
            </a:pPr>
            <a:r>
              <a:t>% of content auto-approved vs routed to review</a:t>
            </a:r>
          </a:p>
        </p:txBody>
      </p:sp>
      <p:sp>
        <p:nvSpPr>
          <p:cNvPr id="17" name="Rounded Rectangle 16"/>
          <p:cNvSpPr/>
          <p:nvPr/>
        </p:nvSpPr>
        <p:spPr>
          <a:xfrm>
            <a:off x="640080" y="3657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657600"/>
            <a:ext cx="73152" cy="182880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794760"/>
            <a:ext cx="3081528" cy="347472"/>
          </a:xfrm>
          <a:prstGeom prst="rect">
            <a:avLst/>
          </a:prstGeom>
          <a:noFill/>
        </p:spPr>
        <p:txBody>
          <a:bodyPr wrap="none">
            <a:spAutoFit/>
          </a:bodyPr>
          <a:lstStyle/>
          <a:p>
            <a:r>
              <a:rPr sz="1400" b="1">
                <a:solidFill>
                  <a:srgbClr val="142A4A"/>
                </a:solidFill>
                <a:latin typeface="Aptos"/>
              </a:rPr>
              <a:t>RAG retrieval</a:t>
            </a:r>
          </a:p>
        </p:txBody>
      </p:sp>
      <p:sp>
        <p:nvSpPr>
          <p:cNvPr id="20" name="TextBox 19"/>
          <p:cNvSpPr txBox="1"/>
          <p:nvPr/>
        </p:nvSpPr>
        <p:spPr>
          <a:xfrm>
            <a:off x="841247" y="4187952"/>
            <a:ext cx="3063240" cy="1188720"/>
          </a:xfrm>
          <a:prstGeom prst="rect">
            <a:avLst/>
          </a:prstGeom>
          <a:noFill/>
        </p:spPr>
        <p:txBody>
          <a:bodyPr wrap="square">
            <a:spAutoFit/>
          </a:bodyPr>
          <a:lstStyle/>
          <a:p>
            <a:pPr>
              <a:defRPr sz="1130">
                <a:solidFill>
                  <a:srgbClr val="232B34"/>
                </a:solidFill>
                <a:latin typeface="Aptos"/>
              </a:defRPr>
            </a:pPr>
            <a:r>
              <a:t>Relevant evidence in top-k; citation/source traceability</a:t>
            </a:r>
          </a:p>
        </p:txBody>
      </p:sp>
      <p:sp>
        <p:nvSpPr>
          <p:cNvPr id="21" name="Rounded Rectangle 20"/>
          <p:cNvSpPr/>
          <p:nvPr/>
        </p:nvSpPr>
        <p:spPr>
          <a:xfrm>
            <a:off x="4434840" y="3657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657600"/>
            <a:ext cx="73152" cy="182880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3794760"/>
            <a:ext cx="3081528" cy="347472"/>
          </a:xfrm>
          <a:prstGeom prst="rect">
            <a:avLst/>
          </a:prstGeom>
          <a:noFill/>
        </p:spPr>
        <p:txBody>
          <a:bodyPr wrap="none">
            <a:spAutoFit/>
          </a:bodyPr>
          <a:lstStyle/>
          <a:p>
            <a:r>
              <a:rPr sz="1400" b="1">
                <a:solidFill>
                  <a:srgbClr val="142A4A"/>
                </a:solidFill>
                <a:latin typeface="Aptos"/>
              </a:rPr>
              <a:t>Reuse</a:t>
            </a:r>
          </a:p>
        </p:txBody>
      </p:sp>
      <p:sp>
        <p:nvSpPr>
          <p:cNvPr id="24" name="TextBox 23"/>
          <p:cNvSpPr txBox="1"/>
          <p:nvPr/>
        </p:nvSpPr>
        <p:spPr>
          <a:xfrm>
            <a:off x="4636008" y="4187952"/>
            <a:ext cx="3063240" cy="1188720"/>
          </a:xfrm>
          <a:prstGeom prst="rect">
            <a:avLst/>
          </a:prstGeom>
          <a:noFill/>
        </p:spPr>
        <p:txBody>
          <a:bodyPr wrap="square">
            <a:spAutoFit/>
          </a:bodyPr>
          <a:lstStyle/>
          <a:p>
            <a:pPr>
              <a:defRPr sz="1130">
                <a:solidFill>
                  <a:srgbClr val="232B34"/>
                </a:solidFill>
                <a:latin typeface="Aptos"/>
              </a:defRPr>
            </a:pPr>
            <a:r>
              <a:t>Questions answered without re-running the original meeting / re-interviewing SMEs</a:t>
            </a:r>
          </a:p>
        </p:txBody>
      </p:sp>
      <p:sp>
        <p:nvSpPr>
          <p:cNvPr id="25" name="Rounded Rectangle 24"/>
          <p:cNvSpPr/>
          <p:nvPr/>
        </p:nvSpPr>
        <p:spPr>
          <a:xfrm>
            <a:off x="8229600" y="3657600"/>
            <a:ext cx="3429000" cy="182880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3657600"/>
            <a:ext cx="73152" cy="182880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0768" y="3794760"/>
            <a:ext cx="3081528" cy="347472"/>
          </a:xfrm>
          <a:prstGeom prst="rect">
            <a:avLst/>
          </a:prstGeom>
          <a:noFill/>
        </p:spPr>
        <p:txBody>
          <a:bodyPr wrap="none">
            <a:spAutoFit/>
          </a:bodyPr>
          <a:lstStyle/>
          <a:p>
            <a:r>
              <a:rPr sz="1400" b="1">
                <a:solidFill>
                  <a:srgbClr val="142A4A"/>
                </a:solidFill>
                <a:latin typeface="Aptos"/>
              </a:rPr>
              <a:t>Developer productivity</a:t>
            </a:r>
          </a:p>
        </p:txBody>
      </p:sp>
      <p:sp>
        <p:nvSpPr>
          <p:cNvPr id="28" name="TextBox 27"/>
          <p:cNvSpPr txBox="1"/>
          <p:nvPr/>
        </p:nvSpPr>
        <p:spPr>
          <a:xfrm>
            <a:off x="8430768" y="4187952"/>
            <a:ext cx="3063240" cy="1188720"/>
          </a:xfrm>
          <a:prstGeom prst="rect">
            <a:avLst/>
          </a:prstGeom>
          <a:noFill/>
        </p:spPr>
        <p:txBody>
          <a:bodyPr wrap="square">
            <a:spAutoFit/>
          </a:bodyPr>
          <a:lstStyle/>
          <a:p>
            <a:pPr>
              <a:defRPr sz="1130">
                <a:solidFill>
                  <a:srgbClr val="232B34"/>
                </a:solidFill>
                <a:latin typeface="Aptos"/>
              </a:defRPr>
            </a:pPr>
            <a:r>
              <a:t>Time saved generating FSR, design notes, tests or implementation context</a:t>
            </a:r>
          </a:p>
        </p:txBody>
      </p:sp>
      <p:sp>
        <p:nvSpPr>
          <p:cNvPr id="29" name="Rectangle 28"/>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1" name="TextBox 30"/>
          <p:cNvSpPr txBox="1"/>
          <p:nvPr/>
        </p:nvSpPr>
        <p:spPr>
          <a:xfrm>
            <a:off x="11064240" y="6592824"/>
            <a:ext cx="502920" cy="182880"/>
          </a:xfrm>
          <a:prstGeom prst="rect">
            <a:avLst/>
          </a:prstGeom>
          <a:noFill/>
        </p:spPr>
        <p:txBody>
          <a:bodyPr wrap="none">
            <a:spAutoFit/>
          </a:bodyPr>
          <a:lstStyle/>
          <a:p>
            <a:pPr algn="r"/>
            <a:r>
              <a:rPr sz="800">
                <a:solidFill>
                  <a:srgbClr val="FFFFFF"/>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142A4A"/>
                </a:solidFill>
                <a:latin typeface="Aptos Display"/>
              </a:rPr>
              <a:t>End-to-end Trade Loan example</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646E78"/>
                </a:solidFill>
                <a:latin typeface="Aptos"/>
              </a:rPr>
              <a:t>One Zoom conversation becomes multiple reusable assets.</a:t>
            </a:r>
          </a:p>
        </p:txBody>
      </p:sp>
      <p:sp>
        <p:nvSpPr>
          <p:cNvPr id="5" name="Rounded Rectangle 4"/>
          <p:cNvSpPr/>
          <p:nvPr/>
        </p:nvSpPr>
        <p:spPr>
          <a:xfrm>
            <a:off x="502920" y="132588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25880"/>
            <a:ext cx="73152" cy="173736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463039"/>
            <a:ext cx="2212848" cy="347472"/>
          </a:xfrm>
          <a:prstGeom prst="rect">
            <a:avLst/>
          </a:prstGeom>
          <a:noFill/>
        </p:spPr>
        <p:txBody>
          <a:bodyPr wrap="none">
            <a:spAutoFit/>
          </a:bodyPr>
          <a:lstStyle/>
          <a:p>
            <a:r>
              <a:rPr sz="1300" b="1">
                <a:solidFill>
                  <a:srgbClr val="142A4A"/>
                </a:solidFill>
                <a:latin typeface="Aptos"/>
              </a:rPr>
              <a:t>Zoom</a:t>
            </a:r>
          </a:p>
        </p:txBody>
      </p:sp>
      <p:sp>
        <p:nvSpPr>
          <p:cNvPr id="8" name="TextBox 7"/>
          <p:cNvSpPr txBox="1"/>
          <p:nvPr/>
        </p:nvSpPr>
        <p:spPr>
          <a:xfrm>
            <a:off x="704088" y="1856231"/>
            <a:ext cx="2194560" cy="1097280"/>
          </a:xfrm>
          <a:prstGeom prst="rect">
            <a:avLst/>
          </a:prstGeom>
          <a:noFill/>
        </p:spPr>
        <p:txBody>
          <a:bodyPr wrap="square">
            <a:spAutoFit/>
          </a:bodyPr>
          <a:lstStyle/>
          <a:p>
            <a:pPr>
              <a:defRPr sz="1019">
                <a:solidFill>
                  <a:srgbClr val="232B34"/>
                </a:solidFill>
                <a:latin typeface="Aptos"/>
              </a:defRPr>
            </a:pPr>
            <a:r>
              <a:t>Product Owner + BA + Architect discuss Trade Loan approval.</a:t>
            </a:r>
          </a:p>
        </p:txBody>
      </p:sp>
      <p:sp>
        <p:nvSpPr>
          <p:cNvPr id="9" name="Rounded Rectangle 8"/>
          <p:cNvSpPr/>
          <p:nvPr/>
        </p:nvSpPr>
        <p:spPr>
          <a:xfrm>
            <a:off x="3383280" y="132588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325880"/>
            <a:ext cx="73152" cy="173736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463039"/>
            <a:ext cx="2212848" cy="347472"/>
          </a:xfrm>
          <a:prstGeom prst="rect">
            <a:avLst/>
          </a:prstGeom>
          <a:noFill/>
        </p:spPr>
        <p:txBody>
          <a:bodyPr wrap="none">
            <a:spAutoFit/>
          </a:bodyPr>
          <a:lstStyle/>
          <a:p>
            <a:r>
              <a:rPr sz="1300" b="1">
                <a:solidFill>
                  <a:srgbClr val="142A4A"/>
                </a:solidFill>
                <a:latin typeface="Aptos"/>
              </a:rPr>
              <a:t>Stream / VTT</a:t>
            </a:r>
          </a:p>
        </p:txBody>
      </p:sp>
      <p:sp>
        <p:nvSpPr>
          <p:cNvPr id="12" name="TextBox 11"/>
          <p:cNvSpPr txBox="1"/>
          <p:nvPr/>
        </p:nvSpPr>
        <p:spPr>
          <a:xfrm>
            <a:off x="3584448" y="1856231"/>
            <a:ext cx="2194560" cy="1097280"/>
          </a:xfrm>
          <a:prstGeom prst="rect">
            <a:avLst/>
          </a:prstGeom>
          <a:noFill/>
        </p:spPr>
        <p:txBody>
          <a:bodyPr wrap="square">
            <a:spAutoFit/>
          </a:bodyPr>
          <a:lstStyle/>
          <a:p>
            <a:pPr>
              <a:defRPr sz="1019">
                <a:solidFill>
                  <a:srgbClr val="232B34"/>
                </a:solidFill>
                <a:latin typeface="Aptos"/>
              </a:defRPr>
            </a:pPr>
            <a:r>
              <a:t>Recording becomes machine-readable transcript.</a:t>
            </a:r>
          </a:p>
        </p:txBody>
      </p:sp>
      <p:sp>
        <p:nvSpPr>
          <p:cNvPr id="13" name="Rounded Rectangle 12"/>
          <p:cNvSpPr/>
          <p:nvPr/>
        </p:nvSpPr>
        <p:spPr>
          <a:xfrm>
            <a:off x="6263640" y="132588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325880"/>
            <a:ext cx="73152" cy="1737360"/>
          </a:xfrm>
          <a:prstGeom prst="rect">
            <a:avLst/>
          </a:prstGeom>
          <a:solidFill>
            <a:srgbClr val="00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463039"/>
            <a:ext cx="2212848" cy="347472"/>
          </a:xfrm>
          <a:prstGeom prst="rect">
            <a:avLst/>
          </a:prstGeom>
          <a:noFill/>
        </p:spPr>
        <p:txBody>
          <a:bodyPr wrap="none">
            <a:spAutoFit/>
          </a:bodyPr>
          <a:lstStyle/>
          <a:p>
            <a:r>
              <a:rPr sz="1300" b="1">
                <a:solidFill>
                  <a:srgbClr val="142A4A"/>
                </a:solidFill>
                <a:latin typeface="Aptos"/>
              </a:rPr>
              <a:t>Agent 1</a:t>
            </a:r>
          </a:p>
        </p:txBody>
      </p:sp>
      <p:sp>
        <p:nvSpPr>
          <p:cNvPr id="16" name="TextBox 15"/>
          <p:cNvSpPr txBox="1"/>
          <p:nvPr/>
        </p:nvSpPr>
        <p:spPr>
          <a:xfrm>
            <a:off x="6464807" y="1856231"/>
            <a:ext cx="2194560" cy="1097280"/>
          </a:xfrm>
          <a:prstGeom prst="rect">
            <a:avLst/>
          </a:prstGeom>
          <a:noFill/>
        </p:spPr>
        <p:txBody>
          <a:bodyPr wrap="square">
            <a:spAutoFit/>
          </a:bodyPr>
          <a:lstStyle/>
          <a:p>
            <a:pPr>
              <a:defRPr sz="1019">
                <a:solidFill>
                  <a:srgbClr val="232B34"/>
                </a:solidFill>
                <a:latin typeface="Aptos"/>
              </a:defRPr>
            </a:pPr>
            <a:r>
              <a:t>Clean transcript; preserve rules and conditions.</a:t>
            </a:r>
          </a:p>
        </p:txBody>
      </p:sp>
      <p:sp>
        <p:nvSpPr>
          <p:cNvPr id="17" name="Rounded Rectangle 16"/>
          <p:cNvSpPr/>
          <p:nvPr/>
        </p:nvSpPr>
        <p:spPr>
          <a:xfrm>
            <a:off x="9144000" y="132588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1325880"/>
            <a:ext cx="73152" cy="1737360"/>
          </a:xfrm>
          <a:prstGeom prst="rect">
            <a:avLst/>
          </a:prstGeom>
          <a:solidFill>
            <a:srgbClr val="E69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8" y="1463039"/>
            <a:ext cx="2212848" cy="347472"/>
          </a:xfrm>
          <a:prstGeom prst="rect">
            <a:avLst/>
          </a:prstGeom>
          <a:noFill/>
        </p:spPr>
        <p:txBody>
          <a:bodyPr wrap="none">
            <a:spAutoFit/>
          </a:bodyPr>
          <a:lstStyle/>
          <a:p>
            <a:r>
              <a:rPr sz="1300" b="1">
                <a:solidFill>
                  <a:srgbClr val="142A4A"/>
                </a:solidFill>
                <a:latin typeface="Aptos"/>
              </a:rPr>
              <a:t>Human</a:t>
            </a:r>
          </a:p>
        </p:txBody>
      </p:sp>
      <p:sp>
        <p:nvSpPr>
          <p:cNvPr id="20" name="TextBox 19"/>
          <p:cNvSpPr txBox="1"/>
          <p:nvPr/>
        </p:nvSpPr>
        <p:spPr>
          <a:xfrm>
            <a:off x="9345168" y="1856231"/>
            <a:ext cx="2194560" cy="1097280"/>
          </a:xfrm>
          <a:prstGeom prst="rect">
            <a:avLst/>
          </a:prstGeom>
          <a:noFill/>
        </p:spPr>
        <p:txBody>
          <a:bodyPr wrap="square">
            <a:spAutoFit/>
          </a:bodyPr>
          <a:lstStyle/>
          <a:p>
            <a:pPr>
              <a:defRPr sz="1019">
                <a:solidFill>
                  <a:srgbClr val="232B34"/>
                </a:solidFill>
                <a:latin typeface="Aptos"/>
              </a:defRPr>
            </a:pPr>
            <a:r>
              <a:t>SME validates high-risk terms and decisions.</a:t>
            </a:r>
          </a:p>
        </p:txBody>
      </p:sp>
      <p:sp>
        <p:nvSpPr>
          <p:cNvPr id="21" name="Rounded Rectangle 20"/>
          <p:cNvSpPr/>
          <p:nvPr/>
        </p:nvSpPr>
        <p:spPr>
          <a:xfrm>
            <a:off x="502920" y="356616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566160"/>
            <a:ext cx="73152" cy="1737360"/>
          </a:xfrm>
          <a:prstGeom prst="rect">
            <a:avLst/>
          </a:prstGeom>
          <a:solidFill>
            <a:srgbClr val="634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703320"/>
            <a:ext cx="2212848" cy="347472"/>
          </a:xfrm>
          <a:prstGeom prst="rect">
            <a:avLst/>
          </a:prstGeom>
          <a:noFill/>
        </p:spPr>
        <p:txBody>
          <a:bodyPr wrap="none">
            <a:spAutoFit/>
          </a:bodyPr>
          <a:lstStyle/>
          <a:p>
            <a:r>
              <a:rPr sz="1300" b="1">
                <a:solidFill>
                  <a:srgbClr val="142A4A"/>
                </a:solidFill>
                <a:latin typeface="Aptos"/>
              </a:rPr>
              <a:t>Agent 2</a:t>
            </a:r>
          </a:p>
        </p:txBody>
      </p:sp>
      <p:sp>
        <p:nvSpPr>
          <p:cNvPr id="24" name="TextBox 23"/>
          <p:cNvSpPr txBox="1"/>
          <p:nvPr/>
        </p:nvSpPr>
        <p:spPr>
          <a:xfrm>
            <a:off x="704088" y="4096512"/>
            <a:ext cx="2194560" cy="1097280"/>
          </a:xfrm>
          <a:prstGeom prst="rect">
            <a:avLst/>
          </a:prstGeom>
          <a:noFill/>
        </p:spPr>
        <p:txBody>
          <a:bodyPr wrap="square">
            <a:spAutoFit/>
          </a:bodyPr>
          <a:lstStyle/>
          <a:p>
            <a:pPr>
              <a:defRPr sz="1019">
                <a:solidFill>
                  <a:srgbClr val="232B34"/>
                </a:solidFill>
                <a:latin typeface="Aptos"/>
              </a:defRPr>
            </a:pPr>
            <a:r>
              <a:t>Extract process, rules, exceptions, requirements and decisions.</a:t>
            </a:r>
          </a:p>
        </p:txBody>
      </p:sp>
      <p:sp>
        <p:nvSpPr>
          <p:cNvPr id="25" name="Rounded Rectangle 24"/>
          <p:cNvSpPr/>
          <p:nvPr/>
        </p:nvSpPr>
        <p:spPr>
          <a:xfrm>
            <a:off x="3383280" y="356616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83280" y="3566160"/>
            <a:ext cx="73152" cy="1737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4448" y="3703320"/>
            <a:ext cx="2212848" cy="347472"/>
          </a:xfrm>
          <a:prstGeom prst="rect">
            <a:avLst/>
          </a:prstGeom>
          <a:noFill/>
        </p:spPr>
        <p:txBody>
          <a:bodyPr wrap="none">
            <a:spAutoFit/>
          </a:bodyPr>
          <a:lstStyle/>
          <a:p>
            <a:r>
              <a:rPr sz="1300" b="1">
                <a:solidFill>
                  <a:srgbClr val="142A4A"/>
                </a:solidFill>
                <a:latin typeface="Aptos"/>
              </a:rPr>
              <a:t>Graph</a:t>
            </a:r>
          </a:p>
        </p:txBody>
      </p:sp>
      <p:sp>
        <p:nvSpPr>
          <p:cNvPr id="28" name="TextBox 27"/>
          <p:cNvSpPr txBox="1"/>
          <p:nvPr/>
        </p:nvSpPr>
        <p:spPr>
          <a:xfrm>
            <a:off x="3584448" y="4096512"/>
            <a:ext cx="2194560" cy="1097280"/>
          </a:xfrm>
          <a:prstGeom prst="rect">
            <a:avLst/>
          </a:prstGeom>
          <a:noFill/>
        </p:spPr>
        <p:txBody>
          <a:bodyPr wrap="square">
            <a:spAutoFit/>
          </a:bodyPr>
          <a:lstStyle/>
          <a:p>
            <a:pPr>
              <a:defRPr sz="1019">
                <a:solidFill>
                  <a:srgbClr val="232B34"/>
                </a:solidFill>
                <a:latin typeface="Aptos"/>
              </a:defRPr>
            </a:pPr>
            <a:r>
              <a:t>Customer → documents → credit → sanctions → approval.</a:t>
            </a:r>
          </a:p>
        </p:txBody>
      </p:sp>
      <p:sp>
        <p:nvSpPr>
          <p:cNvPr id="29" name="Rounded Rectangle 28"/>
          <p:cNvSpPr/>
          <p:nvPr/>
        </p:nvSpPr>
        <p:spPr>
          <a:xfrm>
            <a:off x="6263640" y="356616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3566160"/>
            <a:ext cx="73152" cy="1737360"/>
          </a:xfrm>
          <a:prstGeom prst="rect">
            <a:avLst/>
          </a:prstGeom>
          <a:solidFill>
            <a:srgbClr val="277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807" y="3703320"/>
            <a:ext cx="2212848" cy="347472"/>
          </a:xfrm>
          <a:prstGeom prst="rect">
            <a:avLst/>
          </a:prstGeom>
          <a:noFill/>
        </p:spPr>
        <p:txBody>
          <a:bodyPr wrap="none">
            <a:spAutoFit/>
          </a:bodyPr>
          <a:lstStyle/>
          <a:p>
            <a:r>
              <a:rPr sz="1300" b="1">
                <a:solidFill>
                  <a:srgbClr val="142A4A"/>
                </a:solidFill>
                <a:latin typeface="Aptos"/>
              </a:rPr>
              <a:t>Golden source</a:t>
            </a:r>
          </a:p>
        </p:txBody>
      </p:sp>
      <p:sp>
        <p:nvSpPr>
          <p:cNvPr id="32" name="TextBox 31"/>
          <p:cNvSpPr txBox="1"/>
          <p:nvPr/>
        </p:nvSpPr>
        <p:spPr>
          <a:xfrm>
            <a:off x="6464807" y="4096512"/>
            <a:ext cx="2194560" cy="1097280"/>
          </a:xfrm>
          <a:prstGeom prst="rect">
            <a:avLst/>
          </a:prstGeom>
          <a:noFill/>
        </p:spPr>
        <p:txBody>
          <a:bodyPr wrap="square">
            <a:spAutoFit/>
          </a:bodyPr>
          <a:lstStyle/>
          <a:p>
            <a:pPr>
              <a:defRPr sz="1019">
                <a:solidFill>
                  <a:srgbClr val="232B34"/>
                </a:solidFill>
                <a:latin typeface="Aptos"/>
              </a:defRPr>
            </a:pPr>
            <a:r>
              <a:t>Approved, traceable knowledge object.</a:t>
            </a:r>
          </a:p>
        </p:txBody>
      </p:sp>
      <p:sp>
        <p:nvSpPr>
          <p:cNvPr id="33" name="Rounded Rectangle 32"/>
          <p:cNvSpPr/>
          <p:nvPr/>
        </p:nvSpPr>
        <p:spPr>
          <a:xfrm>
            <a:off x="9144000" y="3566160"/>
            <a:ext cx="2560320" cy="1737360"/>
          </a:xfrm>
          <a:prstGeom prst="roundRect">
            <a:avLst/>
          </a:prstGeom>
          <a:solidFill>
            <a:srgbClr val="FFFFFF"/>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4000" y="3566160"/>
            <a:ext cx="73152" cy="1737360"/>
          </a:xfrm>
          <a:prstGeom prst="rect">
            <a:avLst/>
          </a:prstGeom>
          <a:solidFill>
            <a:srgbClr val="005C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45168" y="3703320"/>
            <a:ext cx="2212848" cy="347472"/>
          </a:xfrm>
          <a:prstGeom prst="rect">
            <a:avLst/>
          </a:prstGeom>
          <a:noFill/>
        </p:spPr>
        <p:txBody>
          <a:bodyPr wrap="none">
            <a:spAutoFit/>
          </a:bodyPr>
          <a:lstStyle/>
          <a:p>
            <a:r>
              <a:rPr sz="1300" b="1">
                <a:solidFill>
                  <a:srgbClr val="142A4A"/>
                </a:solidFill>
                <a:latin typeface="Aptos"/>
              </a:rPr>
              <a:t>GAIP</a:t>
            </a:r>
          </a:p>
        </p:txBody>
      </p:sp>
      <p:sp>
        <p:nvSpPr>
          <p:cNvPr id="36" name="TextBox 35"/>
          <p:cNvSpPr txBox="1"/>
          <p:nvPr/>
        </p:nvSpPr>
        <p:spPr>
          <a:xfrm>
            <a:off x="9345168" y="4096512"/>
            <a:ext cx="2194560" cy="1097280"/>
          </a:xfrm>
          <a:prstGeom prst="rect">
            <a:avLst/>
          </a:prstGeom>
          <a:noFill/>
        </p:spPr>
        <p:txBody>
          <a:bodyPr wrap="square">
            <a:spAutoFit/>
          </a:bodyPr>
          <a:lstStyle/>
          <a:p>
            <a:pPr>
              <a:defRPr sz="1019">
                <a:solidFill>
                  <a:srgbClr val="232B34"/>
                </a:solidFill>
                <a:latin typeface="Aptos"/>
              </a:defRPr>
            </a:pPr>
            <a:r>
              <a:t>Chunk/embed/index; answer future questions with grounded evidence.</a:t>
            </a:r>
          </a:p>
        </p:txBody>
      </p:sp>
      <p:sp>
        <p:nvSpPr>
          <p:cNvPr id="37" name="Rectangle 36"/>
          <p:cNvSpPr/>
          <p:nvPr/>
        </p:nvSpPr>
        <p:spPr>
          <a:xfrm>
            <a:off x="0" y="6601968"/>
            <a:ext cx="12191695" cy="256032"/>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39" name="TextBox 38"/>
          <p:cNvSpPr txBox="1"/>
          <p:nvPr/>
        </p:nvSpPr>
        <p:spPr>
          <a:xfrm>
            <a:off x="11064240" y="6592824"/>
            <a:ext cx="502920" cy="182880"/>
          </a:xfrm>
          <a:prstGeom prst="rect">
            <a:avLst/>
          </a:prstGeom>
          <a:noFill/>
        </p:spPr>
        <p:txBody>
          <a:bodyPr wrap="none">
            <a:spAutoFit/>
          </a:bodyPr>
          <a:lstStyle/>
          <a:p>
            <a:pPr algn="r"/>
            <a:r>
              <a:rPr sz="800">
                <a:solidFill>
                  <a:srgbClr val="FFFFFF"/>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700" b="1">
                <a:solidFill>
                  <a:srgbClr val="FFFFFF"/>
                </a:solidFill>
                <a:latin typeface="Aptos Display"/>
              </a:rPr>
              <a:t>Key takeaways</a:t>
            </a:r>
          </a:p>
        </p:txBody>
      </p:sp>
      <p:sp>
        <p:nvSpPr>
          <p:cNvPr id="4" name="TextBox 3"/>
          <p:cNvSpPr txBox="1"/>
          <p:nvPr/>
        </p:nvSpPr>
        <p:spPr>
          <a:xfrm>
            <a:off x="621792" y="896112"/>
            <a:ext cx="10789920" cy="384048"/>
          </a:xfrm>
          <a:prstGeom prst="rect">
            <a:avLst/>
          </a:prstGeom>
          <a:noFill/>
        </p:spPr>
        <p:txBody>
          <a:bodyPr wrap="none">
            <a:spAutoFit/>
          </a:bodyPr>
          <a:lstStyle/>
          <a:p>
            <a:r>
              <a:rPr sz="1150">
                <a:solidFill>
                  <a:srgbClr val="FFFFFF"/>
                </a:solidFill>
                <a:latin typeface="Aptos"/>
              </a:rPr>
              <a:t>A practical foundation for enterprise knowledge engineering.</a:t>
            </a:r>
          </a:p>
        </p:txBody>
      </p:sp>
      <p:sp>
        <p:nvSpPr>
          <p:cNvPr id="5" name="TextBox 4"/>
          <p:cNvSpPr txBox="1"/>
          <p:nvPr/>
        </p:nvSpPr>
        <p:spPr>
          <a:xfrm>
            <a:off x="914400" y="1371600"/>
            <a:ext cx="10332720" cy="4480560"/>
          </a:xfrm>
          <a:prstGeom prst="rect">
            <a:avLst/>
          </a:prstGeom>
          <a:noFill/>
        </p:spPr>
        <p:txBody>
          <a:bodyPr wrap="square">
            <a:spAutoFit/>
          </a:bodyPr>
          <a:lstStyle/>
          <a:p>
            <a:pPr>
              <a:spcAft>
                <a:spcPts val="700"/>
              </a:spcAft>
              <a:defRPr sz="1600">
                <a:solidFill>
                  <a:srgbClr val="FFFFFF"/>
                </a:solidFill>
                <a:latin typeface="Aptos"/>
              </a:defRPr>
            </a:pPr>
            <a:r>
              <a:t>1. Zoom conversations are valuable enterprise knowledge assets — not just recordings.</a:t>
            </a:r>
          </a:p>
          <a:p>
            <a:pPr>
              <a:spcAft>
                <a:spcPts val="700"/>
              </a:spcAft>
              <a:defRPr sz="1600">
                <a:solidFill>
                  <a:srgbClr val="FFFFFF"/>
                </a:solidFill>
                <a:latin typeface="Aptos"/>
              </a:defRPr>
            </a:pPr>
            <a:r>
              <a:t>2. SharePoint + Microsoft Stream provide a practical governed capture foundation.</a:t>
            </a:r>
          </a:p>
          <a:p>
            <a:pPr>
              <a:spcAft>
                <a:spcPts val="700"/>
              </a:spcAft>
              <a:defRPr sz="1600">
                <a:solidFill>
                  <a:srgbClr val="FFFFFF"/>
                </a:solidFill>
                <a:latin typeface="Aptos"/>
              </a:defRPr>
            </a:pPr>
            <a:r>
              <a:t>3. Agent 1 makes transcripts readable and faithful; it should not invent or reinterpret business meaning.</a:t>
            </a:r>
          </a:p>
          <a:p>
            <a:pPr>
              <a:spcAft>
                <a:spcPts val="700"/>
              </a:spcAft>
              <a:defRPr sz="1600">
                <a:solidFill>
                  <a:srgbClr val="FFFFFF"/>
                </a:solidFill>
                <a:latin typeface="Aptos"/>
              </a:defRPr>
            </a:pPr>
            <a:r>
              <a:t>4. Human-in-the-loop validates high-risk content and keeps SMEs accountable for meaning.</a:t>
            </a:r>
          </a:p>
          <a:p>
            <a:pPr>
              <a:spcAft>
                <a:spcPts val="700"/>
              </a:spcAft>
              <a:defRPr sz="1600">
                <a:solidFill>
                  <a:srgbClr val="FFFFFF"/>
                </a:solidFill>
                <a:latin typeface="Aptos"/>
              </a:defRPr>
            </a:pPr>
            <a:r>
              <a:t>5. Agent 2 converts conversation into explicit requirements, rules, decisions, procedures, tests and technical knowledge.</a:t>
            </a:r>
          </a:p>
          <a:p>
            <a:pPr>
              <a:spcAft>
                <a:spcPts val="700"/>
              </a:spcAft>
              <a:defRPr sz="1600">
                <a:solidFill>
                  <a:srgbClr val="FFFFFF"/>
                </a:solidFill>
                <a:latin typeface="Aptos"/>
              </a:defRPr>
            </a:pPr>
            <a:r>
              <a:t>6. Agent 2 output can feed both development/Copilot workflows and the GAIP RAG pipeline.</a:t>
            </a:r>
          </a:p>
          <a:p>
            <a:pPr>
              <a:spcAft>
                <a:spcPts val="700"/>
              </a:spcAft>
              <a:defRPr sz="1600">
                <a:solidFill>
                  <a:srgbClr val="FFFFFF"/>
                </a:solidFill>
                <a:latin typeface="Aptos"/>
              </a:defRPr>
            </a:pPr>
            <a:r>
              <a:t>7. A knowledge graph and golden source improve traceability and reuse beyond RAG.</a:t>
            </a:r>
          </a:p>
          <a:p>
            <a:pPr>
              <a:spcAft>
                <a:spcPts val="700"/>
              </a:spcAft>
              <a:defRPr sz="1600">
                <a:solidFill>
                  <a:srgbClr val="FFFFFF"/>
                </a:solidFill>
                <a:latin typeface="Aptos"/>
              </a:defRPr>
            </a:pPr>
            <a:r>
              <a:t>8. Agent 3 should be introduced later to exploit richer metadata filtering once the GAIP capability is ready.</a:t>
            </a:r>
          </a:p>
        </p:txBody>
      </p:sp>
      <p:sp>
        <p:nvSpPr>
          <p:cNvPr id="6" name="Rounded Rectangle 5"/>
          <p:cNvSpPr/>
          <p:nvPr/>
        </p:nvSpPr>
        <p:spPr>
          <a:xfrm>
            <a:off x="4251960" y="5989320"/>
            <a:ext cx="3749039" cy="329184"/>
          </a:xfrm>
          <a:prstGeom prst="round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NORTH STAR</a:t>
            </a:r>
          </a:p>
        </p:txBody>
      </p:sp>
      <p:sp>
        <p:nvSpPr>
          <p:cNvPr id="7" name="TextBox 6"/>
          <p:cNvSpPr txBox="1"/>
          <p:nvPr/>
        </p:nvSpPr>
        <p:spPr>
          <a:xfrm>
            <a:off x="914400" y="6355080"/>
            <a:ext cx="10332720" cy="320040"/>
          </a:xfrm>
          <a:prstGeom prst="rect">
            <a:avLst/>
          </a:prstGeom>
          <a:noFill/>
        </p:spPr>
        <p:txBody>
          <a:bodyPr wrap="none">
            <a:spAutoFit/>
          </a:bodyPr>
          <a:lstStyle/>
          <a:p>
            <a:pPr algn="ctr"/>
            <a:r>
              <a:rPr sz="1600" b="1">
                <a:solidFill>
                  <a:srgbClr val="FFFFFF"/>
                </a:solidFill>
              </a:rPr>
              <a:t>Capture once → structure once → govern → reuse everywhere</a:t>
            </a:r>
          </a:p>
        </p:txBody>
      </p:sp>
      <p:sp>
        <p:nvSpPr>
          <p:cNvPr id="8" name="Rectangle 7"/>
          <p:cNvSpPr/>
          <p:nvPr/>
        </p:nvSpPr>
        <p:spPr>
          <a:xfrm>
            <a:off x="0" y="6601968"/>
            <a:ext cx="12191695" cy="256032"/>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611112"/>
            <a:ext cx="9875520" cy="182880"/>
          </a:xfrm>
          <a:prstGeom prst="rect">
            <a:avLst/>
          </a:prstGeom>
          <a:noFill/>
        </p:spPr>
        <p:txBody>
          <a:bodyPr wrap="none">
            <a:spAutoFit/>
          </a:bodyPr>
          <a:lstStyle/>
          <a:p>
            <a:r>
              <a:rPr sz="750">
                <a:solidFill>
                  <a:srgbClr val="FFFFFF"/>
                </a:solidFill>
              </a:rPr>
              <a:t>Enterprise Conversation-to-Knowledge | Conceptual architecture</a:t>
            </a:r>
          </a:p>
        </p:txBody>
      </p:sp>
      <p:sp>
        <p:nvSpPr>
          <p:cNvPr id="10" name="TextBox 9"/>
          <p:cNvSpPr txBox="1"/>
          <p:nvPr/>
        </p:nvSpPr>
        <p:spPr>
          <a:xfrm>
            <a:off x="11064240" y="6592824"/>
            <a:ext cx="502920" cy="182880"/>
          </a:xfrm>
          <a:prstGeom prst="rect">
            <a:avLst/>
          </a:prstGeom>
          <a:noFill/>
        </p:spPr>
        <p:txBody>
          <a:bodyPr wrap="none">
            <a:spAutoFit/>
          </a:bodyPr>
          <a:lstStyle/>
          <a:p>
            <a:pPr algn="r"/>
            <a:r>
              <a:rPr sz="800">
                <a:solidFill>
                  <a:srgbClr val="FFFFFF"/>
                </a:solidFill>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