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solidFill>
              <a:srgbClr val="070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051560"/>
            <a:ext cx="2194560" cy="2194560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1417320"/>
            <a:ext cx="1508760" cy="1508760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28048" y="1719072"/>
            <a:ext cx="868680" cy="868680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28800"/>
            <a:ext cx="146304" cy="146304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8439912" y="1490472"/>
            <a:ext cx="2103120" cy="411480"/>
          </a:xfrm>
          <a:prstGeom prst="line">
            <a:avLst/>
          </a:prstGeom>
          <a:ln w="127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469880" y="1417320"/>
            <a:ext cx="146304" cy="146304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543032" y="1490472"/>
            <a:ext cx="274320" cy="1325880"/>
          </a:xfrm>
          <a:prstGeom prst="line">
            <a:avLst/>
          </a:prstGeom>
          <a:ln w="127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744200" y="2743200"/>
            <a:ext cx="146304" cy="146304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9217152" y="2816352"/>
            <a:ext cx="1600200" cy="1051560"/>
          </a:xfrm>
          <a:prstGeom prst="line">
            <a:avLst/>
          </a:prstGeom>
          <a:ln w="127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144000" y="3794760"/>
            <a:ext cx="146304" cy="146304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8074152" y="3319272"/>
            <a:ext cx="1143000" cy="548640"/>
          </a:xfrm>
          <a:prstGeom prst="line">
            <a:avLst/>
          </a:prstGeom>
          <a:ln w="127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001000" y="3246120"/>
            <a:ext cx="146304" cy="146304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530352" y="329184"/>
            <a:ext cx="192024" cy="347472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722376" y="329184"/>
            <a:ext cx="192024" cy="347472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83464"/>
            <a:ext cx="91440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HSBC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92608"/>
            <a:ext cx="1965960" cy="3657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AI WORKSHOP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61320" y="804672"/>
            <a:ext cx="1143000" cy="566928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34472" y="841248"/>
            <a:ext cx="987552" cy="4572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COMING
SOON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960120"/>
            <a:ext cx="6400800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Aptos"/>
              </a:rPr>
              <a:t>BUILDING THE GTS KNOWLEDGE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353312"/>
            <a:ext cx="6766560" cy="5943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WHAT IF THE ENTIRE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874519"/>
            <a:ext cx="6858000" cy="7132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SDLC JOURNEY
GOT SMARTER?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2779776"/>
            <a:ext cx="132588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926080"/>
            <a:ext cx="6309360" cy="3931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DB0011"/>
                </a:solidFill>
                <a:latin typeface="Aptos"/>
              </a:rPr>
              <a:t>Powered by HSBC GAIP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355848"/>
            <a:ext cx="6309360" cy="7132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650" b="0">
                <a:solidFill>
                  <a:srgbClr val="F2F3F5"/>
                </a:solidFill>
                <a:latin typeface="Aptos"/>
              </a:rPr>
              <a:t>From Idea → FSR → Stories → Design → Code → Test → Release
AI-assisted intelligence across the journey.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207008"/>
            <a:ext cx="4343400" cy="4343400"/>
          </a:xfrm>
          <a:prstGeom prst="roundRect">
            <a:avLst/>
          </a:prstGeom>
          <a:solidFill>
            <a:srgbClr val="121318"/>
          </a:solidFill>
          <a:ln>
            <a:solidFill>
              <a:srgbClr val="4B4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481328"/>
            <a:ext cx="370332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DB0011"/>
                </a:solidFill>
                <a:latin typeface="Aptos"/>
              </a:rPr>
              <a:t>THE NEXT EVOLUTION OF SDLC</a:t>
            </a:r>
          </a:p>
        </p:txBody>
      </p:sp>
      <p:sp>
        <p:nvSpPr>
          <p:cNvPr id="29" name="Oval 28"/>
          <p:cNvSpPr/>
          <p:nvPr/>
        </p:nvSpPr>
        <p:spPr>
          <a:xfrm>
            <a:off x="8613648" y="2194560"/>
            <a:ext cx="1783080" cy="1783080"/>
          </a:xfrm>
          <a:prstGeom prst="ellipse">
            <a:avLst/>
          </a:prstGeom>
          <a:solidFill>
            <a:srgbClr val="07080B"/>
          </a:solidFill>
          <a:ln w="317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2542032"/>
            <a:ext cx="1234440" cy="5029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GAIP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3104" y="3008376"/>
            <a:ext cx="1353312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DB0011"/>
                </a:solidFill>
                <a:latin typeface="Aptos"/>
              </a:rPr>
              <a:t>AI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4160520"/>
            <a:ext cx="1353312" cy="43891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1815" y="4187952"/>
            <a:ext cx="1280160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  IDEA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160520"/>
            <a:ext cx="1353312" cy="43891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6296" y="4187952"/>
            <a:ext cx="1280160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  FSR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4160520"/>
            <a:ext cx="1554480" cy="43891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3576" y="4187952"/>
            <a:ext cx="1481328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  STORIES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96528" y="4709160"/>
            <a:ext cx="502920" cy="43891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33103" y="4736592"/>
            <a:ext cx="429768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6920" y="4709160"/>
            <a:ext cx="1325880" cy="438912"/>
          </a:xfrm>
          <a:prstGeom prst="roundRect">
            <a:avLst/>
          </a:prstGeom>
          <a:solidFill>
            <a:srgbClr val="07080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83496" y="4736592"/>
            <a:ext cx="1252728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112" y="5166360"/>
            <a:ext cx="3429000" cy="25603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A8ABB2"/>
                </a:solidFill>
                <a:latin typeface="Aptos"/>
              </a:rPr>
              <a:t>Eight stages. One connected vision.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370832"/>
            <a:ext cx="5989320" cy="694944"/>
          </a:xfrm>
          <a:prstGeom prst="roundRect">
            <a:avLst/>
          </a:prstGeom>
          <a:solidFill>
            <a:srgbClr val="F2F3F5"/>
          </a:solidFill>
          <a:ln>
            <a:solidFill>
              <a:srgbClr val="F2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453128"/>
            <a:ext cx="5532120" cy="5120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07080B"/>
                </a:solidFill>
                <a:latin typeface="Aptos"/>
              </a:rPr>
              <a:t>Less searching.  Fewer handoffs.  More intelligence.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413248"/>
            <a:ext cx="612648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B0011"/>
                </a:solidFill>
                <a:latin typeface="Aptos"/>
              </a:rPr>
              <a:t>IN THE WORKSHOP, WE'LL EXPLORE…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715000"/>
            <a:ext cx="6309360" cy="5029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ptos"/>
              </a:rPr>
              <a:t>How AI can connect SDLC knowledge, accelerate discovery,
and turn fragmented inputs into a smarter delivery flow.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5715000"/>
            <a:ext cx="4343400" cy="658368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5788152"/>
            <a:ext cx="3886200" cy="47548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DISCOVER WHAT'S COMING NEXT 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446520"/>
            <a:ext cx="365760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A8ABB2"/>
                </a:solidFill>
                <a:latin typeface="Aptos"/>
              </a:rPr>
              <a:t>GAIP × GTS SDLC  |  AI WORKSHOP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446520"/>
            <a:ext cx="342900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A8ABB2"/>
                </a:solidFill>
                <a:latin typeface="Aptos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