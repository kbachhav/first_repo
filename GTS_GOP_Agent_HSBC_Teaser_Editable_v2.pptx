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PURPOSE: Build curiosity ahead of the GTS GOP Agent launch.</a:t>
            </a:r>
          </a:p>
          <a:p>
            <a:r>
              <a:t>Message: A new intelligent capability is coming to Trade Operations.</a:t>
            </a:r>
          </a:p>
          <a:p>
            <a:r>
              <a:t>Do not over-explain the solution before launch. Focus on the promise: faster access to trusted GOP knowledge, smarter guidance, fewer escalations, less manual effort and stronger team productivity.</a:t>
            </a:r>
          </a:p>
          <a:p>
            <a:r>
              <a:t>Suggested launch follow-up: reveal the agent experience and real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-274320"/>
            <a:ext cx="6035040" cy="4480560"/>
          </a:xfrm>
          <a:prstGeom prst="rect">
            <a:avLst/>
          </a:prstGeom>
          <a:solidFill>
            <a:srgbClr val="181818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6400800" y="137160"/>
            <a:ext cx="4754880" cy="384048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6565392" y="201168"/>
            <a:ext cx="4645152" cy="379476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6729984" y="265176"/>
            <a:ext cx="4535424" cy="374904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6894576" y="329184"/>
            <a:ext cx="4425696" cy="370332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7059168" y="393192"/>
            <a:ext cx="4315968" cy="365760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223760" y="457200"/>
            <a:ext cx="4206240" cy="361188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7388352" y="521208"/>
            <a:ext cx="4096512" cy="3566160"/>
          </a:xfrm>
          <a:prstGeom prst="arc">
            <a:avLst/>
          </a:prstGeom>
          <a:noFill/>
          <a:ln w="1524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438912" y="182880"/>
            <a:ext cx="384048" cy="384048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5448"/>
            <a:ext cx="9144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46304"/>
            <a:ext cx="1783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ptos"/>
              </a:rPr>
              <a:t>COMING SOON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75720" y="109728"/>
            <a:ext cx="73152" cy="3840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86384"/>
            <a:ext cx="56692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A NEW 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298448"/>
            <a:ext cx="58521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FOR TRADE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810512"/>
            <a:ext cx="53035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0" i="0">
                <a:solidFill>
                  <a:srgbClr val="DB0011"/>
                </a:solidFill>
                <a:latin typeface="Aptos"/>
              </a:rPr>
              <a:t>Smarter. Faster. Simpler.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58568"/>
            <a:ext cx="960120" cy="32004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95728"/>
            <a:ext cx="539496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ptos"/>
              </a:rPr>
              <a:t>Something intelligent is on the way…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474720"/>
            <a:ext cx="4251960" cy="228600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78040" y="3611880"/>
            <a:ext cx="3703320" cy="164592"/>
          </a:xfrm>
          <a:prstGeom prst="roundRect">
            <a:avLst/>
          </a:prstGeom>
          <a:solidFill>
            <a:srgbClr val="181818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59168" y="3035808"/>
            <a:ext cx="3950208" cy="658368"/>
          </a:xfrm>
          <a:prstGeom prst="ellipse">
            <a:avLst/>
          </a:prstGeom>
          <a:noFill/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50607" y="3127248"/>
            <a:ext cx="3767328" cy="475488"/>
          </a:xfrm>
          <a:prstGeom prst="ellipse">
            <a:avLst/>
          </a:prstGeom>
          <a:noFill/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42048" y="3218688"/>
            <a:ext cx="3584448" cy="292607"/>
          </a:xfrm>
          <a:prstGeom prst="ellipse">
            <a:avLst/>
          </a:prstGeom>
          <a:noFill/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62672" y="1673352"/>
            <a:ext cx="2743200" cy="1572768"/>
          </a:xfrm>
          <a:prstGeom prst="roundRect">
            <a:avLst/>
          </a:prstGeom>
          <a:solidFill>
            <a:srgbClr val="460005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1783080"/>
            <a:ext cx="36576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783080"/>
            <a:ext cx="36576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59952" y="1783080"/>
            <a:ext cx="36576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98864" y="1783080"/>
            <a:ext cx="36576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7776" y="1783080"/>
            <a:ext cx="36576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24927" y="2971800"/>
            <a:ext cx="3246120" cy="658368"/>
          </a:xfrm>
          <a:prstGeom prst="roundRect">
            <a:avLst/>
          </a:prstGeom>
          <a:solidFill>
            <a:srgbClr val="320004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8613648" y="2212848"/>
            <a:ext cx="658368" cy="43891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2212848"/>
            <a:ext cx="6400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56832" y="1051560"/>
            <a:ext cx="1078992" cy="621792"/>
          </a:xfrm>
          <a:prstGeom prst="roundRect">
            <a:avLst/>
          </a:prstGeom>
          <a:solidFill>
            <a:srgbClr val="191919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112471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GOP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1353312"/>
            <a:ext cx="9326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  <a:latin typeface="Aptos"/>
              </a:rPr>
              <a:t>Knowledge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1005840"/>
            <a:ext cx="1078992" cy="621792"/>
          </a:xfrm>
          <a:prstGeom prst="roundRect">
            <a:avLst/>
          </a:prstGeom>
          <a:solidFill>
            <a:srgbClr val="191919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5832" y="107899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1307592"/>
            <a:ext cx="9326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  <a:latin typeface="Aptos"/>
              </a:rPr>
              <a:t>Answers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65392" y="2487168"/>
            <a:ext cx="1078992" cy="621792"/>
          </a:xfrm>
          <a:prstGeom prst="roundRect">
            <a:avLst/>
          </a:prstGeom>
          <a:solidFill>
            <a:srgbClr val="191919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25603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2788920"/>
            <a:ext cx="9326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  <a:latin typeface="Aptos"/>
              </a:rPr>
              <a:t>Insights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450592"/>
            <a:ext cx="1078992" cy="621792"/>
          </a:xfrm>
          <a:prstGeom prst="roundRect">
            <a:avLst/>
          </a:prstGeom>
          <a:solidFill>
            <a:srgbClr val="191919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31552" y="252374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1552" y="2752344"/>
            <a:ext cx="9326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  <a:latin typeface="Aptos"/>
              </a:rPr>
              <a:t>Smarter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163824"/>
            <a:ext cx="5989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246120"/>
            <a:ext cx="5623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Aptos"/>
              </a:rPr>
              <a:t>Your intelligent partner for Trade Operations is almost here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877056"/>
            <a:ext cx="11173968" cy="804672"/>
          </a:xfrm>
          <a:prstGeom prst="roundRect">
            <a:avLst/>
          </a:prstGeom>
          <a:solidFill>
            <a:srgbClr val="181818"/>
          </a:solidFill>
          <a:ln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4005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B0011"/>
                </a:solidFill>
                <a:latin typeface="Apto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3959352"/>
            <a:ext cx="162763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Instant Answers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" y="4197096"/>
            <a:ext cx="16276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0" i="0">
                <a:solidFill>
                  <a:srgbClr val="A0A0A0"/>
                </a:solidFill>
                <a:latin typeface="Aptos"/>
              </a:rPr>
              <a:t>Find what you need, faster.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4050791"/>
            <a:ext cx="10972" cy="4572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4005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B0011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64408" y="3959352"/>
            <a:ext cx="162763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GOP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64408" y="4197096"/>
            <a:ext cx="16276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0" i="0">
                <a:solidFill>
                  <a:srgbClr val="A0A0A0"/>
                </a:solidFill>
                <a:latin typeface="Aptos"/>
              </a:rPr>
              <a:t>Trusted guidance in one place.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74336" y="4050791"/>
            <a:ext cx="10972" cy="4572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84064" y="4005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B0011"/>
                </a:solidFill>
                <a:latin typeface="Aptos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9824" y="3959352"/>
            <a:ext cx="162763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Smarter Escalations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9824" y="4197096"/>
            <a:ext cx="16276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0" i="0">
                <a:solidFill>
                  <a:srgbClr val="A0A0A0"/>
                </a:solidFill>
                <a:latin typeface="Aptos"/>
              </a:rPr>
              <a:t>Reduce unnecessary hand-offs.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59752" y="4050791"/>
            <a:ext cx="10972" cy="4572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4005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B0011"/>
                </a:solidFill>
                <a:latin typeface="Aptos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59352"/>
            <a:ext cx="162763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Fewer Manual Steps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197096"/>
            <a:ext cx="16276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0" i="0">
                <a:solidFill>
                  <a:srgbClr val="A0A0A0"/>
                </a:solidFill>
                <a:latin typeface="Aptos"/>
              </a:rPr>
              <a:t>Spend more time on what matters.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45168" y="4050791"/>
            <a:ext cx="10972" cy="4572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54896" y="4005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B0011"/>
                </a:solidFill>
                <a:latin typeface="Aptos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3959352"/>
            <a:ext cx="162763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Stronger Together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0656" y="4197096"/>
            <a:ext cx="16276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0" i="0">
                <a:solidFill>
                  <a:srgbClr val="A0A0A0"/>
                </a:solidFill>
                <a:latin typeface="Aptos"/>
              </a:rPr>
              <a:t>Enable teams with confidence.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892040"/>
            <a:ext cx="11173968" cy="822960"/>
          </a:xfrm>
          <a:prstGeom prst="roundRect">
            <a:avLst/>
          </a:prstGeom>
          <a:solidFill>
            <a:srgbClr val="FFEE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010912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DB0011"/>
                </a:solidFill>
                <a:latin typeface="Aptos"/>
              </a:rPr>
              <a:t>THE COUNTDOWN HAS BEGUN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4983480"/>
            <a:ext cx="5577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Aptos"/>
              </a:rPr>
              <a:t>What if finding the right answer took seconds?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010912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B0011"/>
                </a:solidFill>
                <a:latin typeface="Aptos"/>
              </a:rPr>
              <a:t>GTS GOP AGENT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062472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Be Ready. Be Ahead.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6062472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B0011"/>
                </a:solidFill>
                <a:latin typeface="Aptos"/>
              </a:rPr>
              <a:t>#SmarterTogether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6446520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A0A0A0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