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>
            <a:solidFill>
              <a:srgbClr val="080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" y="265176"/>
            <a:ext cx="192024" cy="347472"/>
          </a:xfrm>
          <a:prstGeom prst="diamond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94944" y="265176"/>
            <a:ext cx="192024" cy="347472"/>
          </a:xfrm>
          <a:prstGeom prst="diamond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46888"/>
            <a:ext cx="1005840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HSBC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65176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GTS GOP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640080"/>
            <a:ext cx="1051560" cy="548640"/>
          </a:xfrm>
          <a:prstGeom prst="round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52176" y="685800"/>
            <a:ext cx="941832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COMING
SOON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85800"/>
            <a:ext cx="91440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GTS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685800"/>
            <a:ext cx="429768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3400" b="1">
                <a:solidFill>
                  <a:srgbClr val="DB0011"/>
                </a:solidFill>
                <a:latin typeface="Aptos"/>
              </a:rPr>
              <a:t>GOP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557784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Your Intelligent Partner for Trade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3035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One Agent. One Source.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554480"/>
            <a:ext cx="320040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400" b="1">
                <a:solidFill>
                  <a:srgbClr val="DB0011"/>
                </a:solidFill>
                <a:latin typeface="Aptos"/>
              </a:rPr>
              <a:t>Limitless Possibilities.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502920"/>
            <a:ext cx="3246120" cy="1691640"/>
          </a:xfrm>
          <a:prstGeom prst="roundRect">
            <a:avLst/>
          </a:prstGeom>
          <a:solidFill>
            <a:srgbClr val="16161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713232"/>
            <a:ext cx="260604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SOMETHING INTELLIGENT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005840"/>
            <a:ext cx="260604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700" b="1">
                <a:solidFill>
                  <a:srgbClr val="DB0011"/>
                </a:solidFill>
                <a:latin typeface="Aptos"/>
              </a:rPr>
              <a:t>IS ON THE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353312"/>
            <a:ext cx="260604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Are you ready?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2212848"/>
            <a:ext cx="11475720" cy="2880360"/>
          </a:xfrm>
          <a:prstGeom prst="roundRect">
            <a:avLst/>
          </a:prstGeom>
          <a:solidFill>
            <a:srgbClr val="F6F6F7"/>
          </a:solidFill>
          <a:ln>
            <a:solidFill>
              <a:srgbClr val="F6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350008"/>
            <a:ext cx="109728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08080A"/>
                </a:solidFill>
                <a:latin typeface="Aptos"/>
              </a:rPr>
              <a:t>FROM COMPLEXITY TO CLARITY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660904"/>
            <a:ext cx="109728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787A80"/>
                </a:solidFill>
                <a:latin typeface="Aptos"/>
              </a:rPr>
              <a:t>Reimagining how we find answers, solve issues and move forward.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62656"/>
            <a:ext cx="3127248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2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090672"/>
            <a:ext cx="27432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THE CHALLENGE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383280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• Multi-step escalation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639312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• GOP knowledge across folders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895344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• Finding relevant guidance takes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151376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• Persistent issues can require escalation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407408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• Delays despite thorough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67912" y="2962656"/>
            <a:ext cx="3127248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2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32504" y="3090672"/>
            <a:ext cx="274320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418237"/>
                </a:solidFill>
                <a:latin typeface="Aptos"/>
              </a:rPr>
              <a:t>THE PROMISE WITH GOP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383280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✓ Instant, intelligent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3639312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✓ Reduced escalations &amp; turnaround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895344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✓ Single point for GOP knowledge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151376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✓ Centralized, reliable knowledge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407408"/>
            <a:ext cx="2743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50" b="0">
                <a:solidFill>
                  <a:srgbClr val="08080A"/>
                </a:solidFill>
                <a:latin typeface="Aptos"/>
              </a:rPr>
              <a:t>✓ Higher productivity &amp; collaboration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50608" y="2962656"/>
            <a:ext cx="416052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2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33488" y="3090672"/>
            <a:ext cx="3749039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DB0011"/>
                </a:solidFill>
                <a:latin typeface="Aptos"/>
              </a:rPr>
              <a:t>WHAT'S COMING YOUR WAY?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3410712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10" b="1">
                <a:solidFill>
                  <a:srgbClr val="08080A"/>
                </a:solidFill>
                <a:latin typeface="Aptos"/>
              </a:rPr>
              <a:t>Real Streaming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3557016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0">
                <a:solidFill>
                  <a:srgbClr val="787A80"/>
                </a:solidFill>
                <a:latin typeface="Aptos"/>
              </a:rPr>
              <a:t>Live interactions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3410712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10" b="1">
                <a:solidFill>
                  <a:srgbClr val="08080A"/>
                </a:solidFill>
                <a:latin typeface="Aptos"/>
              </a:rPr>
              <a:t>Chat Notifications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557016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0">
                <a:solidFill>
                  <a:srgbClr val="787A80"/>
                </a:solidFill>
                <a:latin typeface="Aptos"/>
              </a:rPr>
              <a:t>Stay updated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3730752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10" b="1">
                <a:solidFill>
                  <a:srgbClr val="08080A"/>
                </a:solidFill>
                <a:latin typeface="Aptos"/>
              </a:rPr>
              <a:t>Chat History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3488" y="3877056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0">
                <a:solidFill>
                  <a:srgbClr val="787A80"/>
                </a:solidFill>
                <a:latin typeface="Aptos"/>
              </a:rPr>
              <a:t>Continue conversations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3730752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10" b="1">
                <a:solidFill>
                  <a:srgbClr val="08080A"/>
                </a:solidFill>
                <a:latin typeface="Aptos"/>
              </a:rPr>
              <a:t>Follow-up Questions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9448" y="3877056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0">
                <a:solidFill>
                  <a:srgbClr val="787A80"/>
                </a:solidFill>
                <a:latin typeface="Aptos"/>
              </a:rPr>
              <a:t>Go deeper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33488" y="4050791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10" b="1">
                <a:solidFill>
                  <a:srgbClr val="08080A"/>
                </a:solidFill>
                <a:latin typeface="Aptos"/>
              </a:rPr>
              <a:t>Multi-language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3488" y="4197096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0">
                <a:solidFill>
                  <a:srgbClr val="787A80"/>
                </a:solidFill>
                <a:latin typeface="Aptos"/>
              </a:rPr>
              <a:t>Preferred language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9448" y="4050791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10" b="1">
                <a:solidFill>
                  <a:srgbClr val="08080A"/>
                </a:solidFill>
                <a:latin typeface="Aptos"/>
              </a:rPr>
              <a:t>Image Attachment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9448" y="4197096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0">
                <a:solidFill>
                  <a:srgbClr val="787A80"/>
                </a:solidFill>
                <a:latin typeface="Aptos"/>
              </a:rPr>
              <a:t>Upload for clarity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3488" y="4370831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10" b="1">
                <a:solidFill>
                  <a:srgbClr val="08080A"/>
                </a:solidFill>
                <a:latin typeface="Aptos"/>
              </a:rPr>
              <a:t>Voice &amp; Audio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3488" y="4517136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0">
                <a:solidFill>
                  <a:srgbClr val="787A80"/>
                </a:solidFill>
                <a:latin typeface="Aptos"/>
              </a:rPr>
              <a:t>Speak or listen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4370831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10" b="1">
                <a:solidFill>
                  <a:srgbClr val="08080A"/>
                </a:solidFill>
                <a:latin typeface="Aptos"/>
              </a:rPr>
              <a:t>Feedback Evaluation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9448" y="4517136"/>
            <a:ext cx="1847088" cy="1554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00" b="0">
                <a:solidFill>
                  <a:srgbClr val="787A80"/>
                </a:solidFill>
                <a:latin typeface="Aptos"/>
              </a:rPr>
              <a:t>Rate &amp; improve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5276088"/>
            <a:ext cx="2926080" cy="2468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AI-POWERED. HUMAN-TRUSTED.</a:t>
            </a:r>
          </a:p>
        </p:txBody>
      </p:sp>
      <p:sp>
        <p:nvSpPr>
          <p:cNvPr id="55" name="Oval 54"/>
          <p:cNvSpPr/>
          <p:nvPr/>
        </p:nvSpPr>
        <p:spPr>
          <a:xfrm>
            <a:off x="576072" y="5559552"/>
            <a:ext cx="393192" cy="393192"/>
          </a:xfrm>
          <a:prstGeom prst="ellipse">
            <a:avLst/>
          </a:prstGeom>
          <a:solidFill>
            <a:srgbClr val="08080A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3" y="5971032"/>
            <a:ext cx="7132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" y="5596128"/>
            <a:ext cx="32004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58" name="Oval 57"/>
          <p:cNvSpPr/>
          <p:nvPr/>
        </p:nvSpPr>
        <p:spPr>
          <a:xfrm>
            <a:off x="1837943" y="5559552"/>
            <a:ext cx="393192" cy="393192"/>
          </a:xfrm>
          <a:prstGeom prst="ellipse">
            <a:avLst/>
          </a:prstGeom>
          <a:solidFill>
            <a:srgbClr val="08080A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82495" y="5971032"/>
            <a:ext cx="7132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40863" y="5596128"/>
            <a:ext cx="32004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61" name="Oval 60"/>
          <p:cNvSpPr/>
          <p:nvPr/>
        </p:nvSpPr>
        <p:spPr>
          <a:xfrm>
            <a:off x="3099815" y="5559552"/>
            <a:ext cx="393192" cy="393192"/>
          </a:xfrm>
          <a:prstGeom prst="ellipse">
            <a:avLst/>
          </a:prstGeom>
          <a:solidFill>
            <a:srgbClr val="08080A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44368" y="5971032"/>
            <a:ext cx="7132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ANALYSE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02735" y="5596128"/>
            <a:ext cx="32004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64" name="Oval 63"/>
          <p:cNvSpPr/>
          <p:nvPr/>
        </p:nvSpPr>
        <p:spPr>
          <a:xfrm>
            <a:off x="4361688" y="5559552"/>
            <a:ext cx="393192" cy="393192"/>
          </a:xfrm>
          <a:prstGeom prst="ellipse">
            <a:avLst/>
          </a:prstGeom>
          <a:solidFill>
            <a:srgbClr val="08080A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0" y="5971032"/>
            <a:ext cx="7132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RESPOND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4607" y="5596128"/>
            <a:ext cx="32004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DB0011"/>
                </a:solidFill>
                <a:latin typeface="Aptos"/>
              </a:rP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5623559" y="5559552"/>
            <a:ext cx="393192" cy="393192"/>
          </a:xfrm>
          <a:prstGeom prst="ellipse">
            <a:avLst/>
          </a:prstGeom>
          <a:solidFill>
            <a:srgbClr val="08080A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68112" y="5971032"/>
            <a:ext cx="713232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IMPROVE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50608" y="5257800"/>
            <a:ext cx="4645152" cy="960120"/>
          </a:xfrm>
          <a:prstGeom prst="roundRect">
            <a:avLst/>
          </a:prstGeom>
          <a:solidFill>
            <a:srgbClr val="16161B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60920" y="5340096"/>
            <a:ext cx="4224528" cy="2011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>
                <a:solidFill>
                  <a:srgbClr val="DB0011"/>
                </a:solidFill>
                <a:latin typeface="Aptos"/>
              </a:rPr>
              <a:t>THE COUNTDOWN HAS BEGUN…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5559552"/>
            <a:ext cx="4224528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THE FUTURE OF TRADE OPERATIONS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60920" y="5788152"/>
            <a:ext cx="4224528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250" b="1">
                <a:solidFill>
                  <a:srgbClr val="DB0011"/>
                </a:solidFill>
                <a:latin typeface="Aptos"/>
              </a:rPr>
              <a:t>IS ABOUT TO GET SMARTER.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60920" y="6025896"/>
            <a:ext cx="4224528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GOP AGENT • COMING SOON • BE READY. BE AHEAD.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2" y="6492240"/>
            <a:ext cx="31089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800" b="0">
                <a:solidFill>
                  <a:srgbClr val="787A80"/>
                </a:solidFill>
                <a:latin typeface="Aptos"/>
              </a:rPr>
              <a:t>Opening up a world of opportunity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38360" y="6492240"/>
            <a:ext cx="2057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#SmarterTogether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0" y="6492240"/>
            <a:ext cx="118872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787A80"/>
                </a:solidFill>
                <a:latin typeface="Aptos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