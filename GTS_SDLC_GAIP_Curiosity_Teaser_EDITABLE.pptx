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solidFill>
              <a:srgbClr val="0708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30352" y="292608"/>
            <a:ext cx="192024" cy="347472"/>
          </a:xfrm>
          <a:prstGeom prst="diamond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722376" y="292608"/>
            <a:ext cx="192024" cy="347472"/>
          </a:xfrm>
          <a:prstGeom prst="diamond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46888"/>
            <a:ext cx="10058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HSBC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265176"/>
            <a:ext cx="214884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GTS • AI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41832"/>
            <a:ext cx="53949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DB0011"/>
                </a:solidFill>
                <a:latin typeface="Aptos"/>
              </a:rPr>
              <a:t>A QUESTION FOR GTS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98448"/>
            <a:ext cx="662940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WHAT IF AI COULD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01952"/>
            <a:ext cx="6766560" cy="7498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CONNECT THE
ENTIRE SDLC?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" y="2907792"/>
            <a:ext cx="1417320" cy="41148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035808"/>
            <a:ext cx="60350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50" b="0">
                <a:solidFill>
                  <a:srgbClr val="F4F4F5"/>
                </a:solidFill>
                <a:latin typeface="Aptos"/>
              </a:rPr>
              <a:t>From Idea → FSR → Stories → Design → Code → Test → 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547872"/>
            <a:ext cx="59893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50" b="0">
                <a:solidFill>
                  <a:srgbClr val="AAADB4"/>
                </a:solidFill>
                <a:latin typeface="Aptos"/>
              </a:rPr>
              <a:t>One connected knowledge layer.  Smarter handoffs.  Faster discovery.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060704"/>
            <a:ext cx="4343400" cy="4498848"/>
          </a:xfrm>
          <a:prstGeom prst="roundRect">
            <a:avLst/>
          </a:prstGeom>
          <a:solidFill>
            <a:srgbClr val="131419"/>
          </a:solidFill>
          <a:ln>
            <a:solidFill>
              <a:srgbClr val="484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298448"/>
            <a:ext cx="37033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B0011"/>
                </a:solidFill>
                <a:latin typeface="Aptos"/>
              </a:rPr>
              <a:t>SOMETHING NEW IS TAKING SHAPE</a:t>
            </a:r>
          </a:p>
        </p:txBody>
      </p:sp>
      <p:sp>
        <p:nvSpPr>
          <p:cNvPr id="16" name="Oval 15"/>
          <p:cNvSpPr/>
          <p:nvPr/>
        </p:nvSpPr>
        <p:spPr>
          <a:xfrm>
            <a:off x="8577072" y="2359152"/>
            <a:ext cx="1783080" cy="1783080"/>
          </a:xfrm>
          <a:prstGeom prst="ellipse">
            <a:avLst/>
          </a:prstGeom>
          <a:solidFill>
            <a:srgbClr val="07080B"/>
          </a:solidFill>
          <a:ln w="3175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05672" y="2761488"/>
            <a:ext cx="13258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GAIP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3182112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DB0011"/>
                </a:solidFill>
                <a:latin typeface="Aptos"/>
              </a:rPr>
              <a:t>INTELLIGENCE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828800"/>
            <a:ext cx="1078992" cy="393192"/>
          </a:xfrm>
          <a:prstGeom prst="roundRect">
            <a:avLst/>
          </a:prstGeom>
          <a:solidFill>
            <a:srgbClr val="07080B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1" y="1847088"/>
            <a:ext cx="1024127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IDEA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80" y="1572768"/>
            <a:ext cx="1078992" cy="393192"/>
          </a:xfrm>
          <a:prstGeom prst="roundRect">
            <a:avLst/>
          </a:prstGeom>
          <a:solidFill>
            <a:srgbClr val="07080B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0111" y="1591056"/>
            <a:ext cx="1024127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FSR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78440" y="2761488"/>
            <a:ext cx="1325880" cy="393192"/>
          </a:xfrm>
          <a:prstGeom prst="roundRect">
            <a:avLst/>
          </a:prstGeom>
          <a:solidFill>
            <a:srgbClr val="07080B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05872" y="2779776"/>
            <a:ext cx="12710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STORIES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4434840"/>
            <a:ext cx="1078992" cy="393192"/>
          </a:xfrm>
          <a:prstGeom prst="roundRect">
            <a:avLst/>
          </a:prstGeom>
          <a:solidFill>
            <a:srgbClr val="07080B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0111" y="4453127"/>
            <a:ext cx="1024127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4498848"/>
            <a:ext cx="1078992" cy="393192"/>
          </a:xfrm>
          <a:prstGeom prst="roundRect">
            <a:avLst/>
          </a:prstGeom>
          <a:solidFill>
            <a:srgbClr val="07080B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62671" y="4517136"/>
            <a:ext cx="1024127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CODE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2880360"/>
            <a:ext cx="502920" cy="393192"/>
          </a:xfrm>
          <a:prstGeom prst="roundRect">
            <a:avLst/>
          </a:prstGeom>
          <a:solidFill>
            <a:srgbClr val="07080B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42631" y="2898648"/>
            <a:ext cx="44805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325112"/>
            <a:ext cx="5925312" cy="749808"/>
          </a:xfrm>
          <a:prstGeom prst="roundRect">
            <a:avLst/>
          </a:prstGeom>
          <a:solidFill>
            <a:srgbClr val="F4F4F5"/>
          </a:solidFill>
          <a:ln>
            <a:solidFill>
              <a:srgbClr val="F4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407408"/>
            <a:ext cx="54864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7080B"/>
                </a:solidFill>
                <a:latin typeface="Aptos"/>
              </a:rPr>
              <a:t>YOU'VE SEEN THE SDLC.  NOW SEE WHAT AI CAN DO WITH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21808"/>
            <a:ext cx="1847088" cy="713232"/>
          </a:xfrm>
          <a:prstGeom prst="roundRect">
            <a:avLst/>
          </a:prstGeom>
          <a:solidFill>
            <a:srgbClr val="131419"/>
          </a:solidFill>
          <a:ln>
            <a:solidFill>
              <a:srgbClr val="484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404104"/>
            <a:ext cx="25603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" y="5367528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WHAT IF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641848"/>
            <a:ext cx="166420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19" b="0">
                <a:solidFill>
                  <a:srgbClr val="AAADB4"/>
                </a:solidFill>
                <a:latin typeface="Aptos"/>
              </a:rPr>
              <a:t>knowledge moved with the work?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60320" y="5321808"/>
            <a:ext cx="1847088" cy="713232"/>
          </a:xfrm>
          <a:prstGeom prst="roundRect">
            <a:avLst/>
          </a:prstGeom>
          <a:solidFill>
            <a:srgbClr val="131419"/>
          </a:solidFill>
          <a:ln>
            <a:solidFill>
              <a:srgbClr val="484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5404104"/>
            <a:ext cx="25603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44368" y="5367528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WHAT IF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5641848"/>
            <a:ext cx="166420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19" b="0">
                <a:solidFill>
                  <a:srgbClr val="AAADB4"/>
                </a:solidFill>
                <a:latin typeface="Aptos"/>
              </a:rPr>
              <a:t>handoffs became intelligent?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53712" y="5321808"/>
            <a:ext cx="1847088" cy="713232"/>
          </a:xfrm>
          <a:prstGeom prst="roundRect">
            <a:avLst/>
          </a:prstGeom>
          <a:solidFill>
            <a:srgbClr val="131419"/>
          </a:solidFill>
          <a:ln>
            <a:solidFill>
              <a:srgbClr val="484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5152" y="5404104"/>
            <a:ext cx="25603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5367528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WHAT IF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5152" y="5641848"/>
            <a:ext cx="166420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19" b="0">
                <a:solidFill>
                  <a:srgbClr val="AAADB4"/>
                </a:solidFill>
                <a:latin typeface="Aptos"/>
              </a:rPr>
              <a:t>every stage learned from the last?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29400" y="5321808"/>
            <a:ext cx="5029200" cy="713232"/>
          </a:xfrm>
          <a:prstGeom prst="round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394960"/>
            <a:ext cx="457200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DISCOVER THE NEXT SDLC EXPERIENCE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669280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GTS × HSBC GAIP  •  COMING SOON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46520"/>
            <a:ext cx="33832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AAADB4"/>
                </a:solidFill>
                <a:latin typeface="Aptos"/>
              </a:rPr>
              <a:t>AI WORKSHOP • INTERNAL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6446520"/>
            <a:ext cx="29260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#SmarterTogether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